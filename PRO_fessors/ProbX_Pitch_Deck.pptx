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Inter SemiBold"/>
      <p:regular r:id="rId24"/>
      <p:bold r:id="rId25"/>
      <p:italic r:id="rId26"/>
      <p:boldItalic r:id="rId27"/>
    </p:embeddedFont>
    <p:embeddedFont>
      <p:font typeface="Inter Light"/>
      <p:regular r:id="rId28"/>
      <p:bold r:id="rId29"/>
      <p:italic r:id="rId30"/>
      <p:boldItalic r:id="rId31"/>
    </p:embeddedFont>
    <p:embeddedFont>
      <p:font typeface="Outfit ExtraBold"/>
      <p:bold r:id="rId32"/>
    </p:embeddedFont>
    <p:embeddedFont>
      <p:font typeface="Inter"/>
      <p:bold r:id="rId33"/>
      <p:boldItalic r:id="rId34"/>
    </p:embeddedFont>
    <p:embeddedFont>
      <p:font typeface="Outfit"/>
      <p:regular r:id="rId35"/>
      <p:bold r:id="rId36"/>
    </p:embeddedFont>
    <p:embeddedFont>
      <p:font typeface="Outfit SemiBold"/>
      <p:regular r:id="rId37"/>
      <p:bold r:id="rId38"/>
    </p:embeddedFont>
    <p:embeddedFont>
      <p:font typeface="Outfit Medium"/>
      <p:regular r:id="rId39"/>
      <p:bold r:id="rId40"/>
    </p:embeddedFont>
    <p:embeddedFont>
      <p:font typeface="Inter Medium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utfitMedium-bold.fntdata"/><Relationship Id="rId20" Type="http://schemas.openxmlformats.org/officeDocument/2006/relationships/slide" Target="slides/slide15.xml"/><Relationship Id="rId42" Type="http://schemas.openxmlformats.org/officeDocument/2006/relationships/font" Target="fonts/InterMedium-bold.fntdata"/><Relationship Id="rId41" Type="http://schemas.openxmlformats.org/officeDocument/2006/relationships/font" Target="fonts/InterMedium-regular.fntdata"/><Relationship Id="rId22" Type="http://schemas.openxmlformats.org/officeDocument/2006/relationships/slide" Target="slides/slide17.xml"/><Relationship Id="rId44" Type="http://schemas.openxmlformats.org/officeDocument/2006/relationships/font" Target="fonts/InterMedium-boldItalic.fntdata"/><Relationship Id="rId21" Type="http://schemas.openxmlformats.org/officeDocument/2006/relationships/slide" Target="slides/slide16.xml"/><Relationship Id="rId43" Type="http://schemas.openxmlformats.org/officeDocument/2006/relationships/font" Target="fonts/InterMedium-italic.fntdata"/><Relationship Id="rId24" Type="http://schemas.openxmlformats.org/officeDocument/2006/relationships/font" Target="fonts/InterSemiBold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italic.fntdata"/><Relationship Id="rId25" Type="http://schemas.openxmlformats.org/officeDocument/2006/relationships/font" Target="fonts/InterSemiBold-bold.fntdata"/><Relationship Id="rId28" Type="http://schemas.openxmlformats.org/officeDocument/2006/relationships/font" Target="fonts/InterLight-regular.fntdata"/><Relationship Id="rId27" Type="http://schemas.openxmlformats.org/officeDocument/2006/relationships/font" Target="fonts/Inter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Light-boldItalic.fntdata"/><Relationship Id="rId30" Type="http://schemas.openxmlformats.org/officeDocument/2006/relationships/font" Target="fonts/InterLight-italic.fntdata"/><Relationship Id="rId11" Type="http://schemas.openxmlformats.org/officeDocument/2006/relationships/slide" Target="slides/slide6.xml"/><Relationship Id="rId33" Type="http://schemas.openxmlformats.org/officeDocument/2006/relationships/font" Target="fonts/Inter-bold.fntdata"/><Relationship Id="rId10" Type="http://schemas.openxmlformats.org/officeDocument/2006/relationships/slide" Target="slides/slide5.xml"/><Relationship Id="rId32" Type="http://schemas.openxmlformats.org/officeDocument/2006/relationships/font" Target="fonts/OutfitExtraBold-bold.fntdata"/><Relationship Id="rId13" Type="http://schemas.openxmlformats.org/officeDocument/2006/relationships/slide" Target="slides/slide8.xml"/><Relationship Id="rId35" Type="http://schemas.openxmlformats.org/officeDocument/2006/relationships/font" Target="fonts/Outfit-regular.fntdata"/><Relationship Id="rId12" Type="http://schemas.openxmlformats.org/officeDocument/2006/relationships/slide" Target="slides/slide7.xml"/><Relationship Id="rId34" Type="http://schemas.openxmlformats.org/officeDocument/2006/relationships/font" Target="fonts/Inter-boldItalic.fntdata"/><Relationship Id="rId15" Type="http://schemas.openxmlformats.org/officeDocument/2006/relationships/slide" Target="slides/slide10.xml"/><Relationship Id="rId37" Type="http://schemas.openxmlformats.org/officeDocument/2006/relationships/font" Target="fonts/OutfitSemiBold-regular.fntdata"/><Relationship Id="rId14" Type="http://schemas.openxmlformats.org/officeDocument/2006/relationships/slide" Target="slides/slide9.xml"/><Relationship Id="rId36" Type="http://schemas.openxmlformats.org/officeDocument/2006/relationships/font" Target="fonts/Outfit-bold.fntdata"/><Relationship Id="rId17" Type="http://schemas.openxmlformats.org/officeDocument/2006/relationships/slide" Target="slides/slide12.xml"/><Relationship Id="rId39" Type="http://schemas.openxmlformats.org/officeDocument/2006/relationships/font" Target="fonts/OutfitMedium-regular.fntdata"/><Relationship Id="rId16" Type="http://schemas.openxmlformats.org/officeDocument/2006/relationships/slide" Target="slides/slide11.xml"/><Relationship Id="rId38" Type="http://schemas.openxmlformats.org/officeDocument/2006/relationships/font" Target="fonts/OutfitSemiBol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4d94494b7_95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4d94494b7_95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4d94494b7_9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f4d94494b7_95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4d94494b7_9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f4d94494b7_95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4d94494b7_1_22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f4d94494b7_1_2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8.png"/><Relationship Id="rId4" Type="http://schemas.openxmlformats.org/officeDocument/2006/relationships/image" Target="../media/image44.png"/><Relationship Id="rId5" Type="http://schemas.openxmlformats.org/officeDocument/2006/relationships/image" Target="../media/image7.png"/><Relationship Id="rId6" Type="http://schemas.openxmlformats.org/officeDocument/2006/relationships/image" Target="../media/image14.png"/><Relationship Id="rId7" Type="http://schemas.openxmlformats.org/officeDocument/2006/relationships/image" Target="../media/image1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8.png"/><Relationship Id="rId4" Type="http://schemas.openxmlformats.org/officeDocument/2006/relationships/image" Target="../media/image20.png"/><Relationship Id="rId11" Type="http://schemas.openxmlformats.org/officeDocument/2006/relationships/image" Target="../media/image15.png"/><Relationship Id="rId10" Type="http://schemas.openxmlformats.org/officeDocument/2006/relationships/image" Target="../media/image23.png"/><Relationship Id="rId9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4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8.png"/><Relationship Id="rId4" Type="http://schemas.openxmlformats.org/officeDocument/2006/relationships/image" Target="../media/image10.png"/><Relationship Id="rId11" Type="http://schemas.openxmlformats.org/officeDocument/2006/relationships/image" Target="../media/image73.png"/><Relationship Id="rId10" Type="http://schemas.openxmlformats.org/officeDocument/2006/relationships/image" Target="../media/image37.png"/><Relationship Id="rId12" Type="http://schemas.openxmlformats.org/officeDocument/2006/relationships/image" Target="../media/image12.png"/><Relationship Id="rId9" Type="http://schemas.openxmlformats.org/officeDocument/2006/relationships/image" Target="../media/image53.png"/><Relationship Id="rId5" Type="http://schemas.openxmlformats.org/officeDocument/2006/relationships/image" Target="../media/image8.png"/><Relationship Id="rId6" Type="http://schemas.openxmlformats.org/officeDocument/2006/relationships/image" Target="../media/image34.png"/><Relationship Id="rId7" Type="http://schemas.openxmlformats.org/officeDocument/2006/relationships/image" Target="../media/image13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21.png"/><Relationship Id="rId10" Type="http://schemas.openxmlformats.org/officeDocument/2006/relationships/image" Target="../media/image16.png"/><Relationship Id="rId13" Type="http://schemas.openxmlformats.org/officeDocument/2006/relationships/image" Target="../media/image46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22.png"/><Relationship Id="rId15" Type="http://schemas.openxmlformats.org/officeDocument/2006/relationships/image" Target="../media/image24.png"/><Relationship Id="rId14" Type="http://schemas.openxmlformats.org/officeDocument/2006/relationships/image" Target="../media/image30.png"/><Relationship Id="rId17" Type="http://schemas.openxmlformats.org/officeDocument/2006/relationships/image" Target="../media/image29.png"/><Relationship Id="rId16" Type="http://schemas.openxmlformats.org/officeDocument/2006/relationships/image" Target="../media/image27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Relationship Id="rId8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52.png"/><Relationship Id="rId10" Type="http://schemas.openxmlformats.org/officeDocument/2006/relationships/image" Target="../media/image66.png"/><Relationship Id="rId13" Type="http://schemas.openxmlformats.org/officeDocument/2006/relationships/image" Target="../media/image35.png"/><Relationship Id="rId1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9" Type="http://schemas.openxmlformats.org/officeDocument/2006/relationships/image" Target="../media/image33.png"/><Relationship Id="rId15" Type="http://schemas.openxmlformats.org/officeDocument/2006/relationships/image" Target="../media/image43.png"/><Relationship Id="rId14" Type="http://schemas.openxmlformats.org/officeDocument/2006/relationships/image" Target="../media/image45.png"/><Relationship Id="rId5" Type="http://schemas.openxmlformats.org/officeDocument/2006/relationships/image" Target="../media/image28.png"/><Relationship Id="rId6" Type="http://schemas.openxmlformats.org/officeDocument/2006/relationships/image" Target="../media/image31.png"/><Relationship Id="rId7" Type="http://schemas.openxmlformats.org/officeDocument/2006/relationships/image" Target="../media/image49.png"/><Relationship Id="rId8" Type="http://schemas.openxmlformats.org/officeDocument/2006/relationships/image" Target="../media/image4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Relationship Id="rId4" Type="http://schemas.openxmlformats.org/officeDocument/2006/relationships/image" Target="../media/image40.png"/><Relationship Id="rId5" Type="http://schemas.openxmlformats.org/officeDocument/2006/relationships/image" Target="../media/image36.png"/><Relationship Id="rId6" Type="http://schemas.openxmlformats.org/officeDocument/2006/relationships/image" Target="../media/image41.png"/><Relationship Id="rId7" Type="http://schemas.openxmlformats.org/officeDocument/2006/relationships/image" Target="../media/image47.png"/><Relationship Id="rId8" Type="http://schemas.openxmlformats.org/officeDocument/2006/relationships/image" Target="../media/image7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54.png"/><Relationship Id="rId10" Type="http://schemas.openxmlformats.org/officeDocument/2006/relationships/image" Target="../media/image55.png"/><Relationship Id="rId13" Type="http://schemas.openxmlformats.org/officeDocument/2006/relationships/image" Target="../media/image59.png"/><Relationship Id="rId1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Relationship Id="rId4" Type="http://schemas.openxmlformats.org/officeDocument/2006/relationships/image" Target="../media/image68.png"/><Relationship Id="rId9" Type="http://schemas.openxmlformats.org/officeDocument/2006/relationships/image" Target="../media/image70.png"/><Relationship Id="rId15" Type="http://schemas.openxmlformats.org/officeDocument/2006/relationships/image" Target="../media/image51.png"/><Relationship Id="rId14" Type="http://schemas.openxmlformats.org/officeDocument/2006/relationships/image" Target="../media/image69.png"/><Relationship Id="rId17" Type="http://schemas.openxmlformats.org/officeDocument/2006/relationships/image" Target="../media/image61.png"/><Relationship Id="rId16" Type="http://schemas.openxmlformats.org/officeDocument/2006/relationships/image" Target="../media/image71.png"/><Relationship Id="rId5" Type="http://schemas.openxmlformats.org/officeDocument/2006/relationships/image" Target="../media/image74.png"/><Relationship Id="rId19" Type="http://schemas.openxmlformats.org/officeDocument/2006/relationships/image" Target="../media/image72.png"/><Relationship Id="rId6" Type="http://schemas.openxmlformats.org/officeDocument/2006/relationships/image" Target="../media/image56.png"/><Relationship Id="rId18" Type="http://schemas.openxmlformats.org/officeDocument/2006/relationships/image" Target="../media/image63.png"/><Relationship Id="rId7" Type="http://schemas.openxmlformats.org/officeDocument/2006/relationships/image" Target="../media/image48.png"/><Relationship Id="rId8" Type="http://schemas.openxmlformats.org/officeDocument/2006/relationships/image" Target="../media/image5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5.png"/><Relationship Id="rId4" Type="http://schemas.openxmlformats.org/officeDocument/2006/relationships/image" Target="../media/image6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81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13"/>
          <p:cNvGrpSpPr/>
          <p:nvPr/>
        </p:nvGrpSpPr>
        <p:grpSpPr>
          <a:xfrm>
            <a:off x="952500" y="1714500"/>
            <a:ext cx="5238900" cy="2095500"/>
            <a:chOff x="0" y="0"/>
            <a:chExt cx="5238900" cy="2095500"/>
          </a:xfrm>
        </p:grpSpPr>
        <p:sp>
          <p:nvSpPr>
            <p:cNvPr id="86" name="Google Shape;86;p13"/>
            <p:cNvSpPr txBox="1"/>
            <p:nvPr/>
          </p:nvSpPr>
          <p:spPr>
            <a:xfrm>
              <a:off x="0" y="0"/>
              <a:ext cx="5238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7200">
                  <a:solidFill>
                    <a:srgbClr val="FFFFFF"/>
                  </a:solidFill>
                  <a:latin typeface="Outfit ExtraBold"/>
                  <a:ea typeface="Outfit ExtraBold"/>
                  <a:cs typeface="Outfit ExtraBold"/>
                  <a:sym typeface="Outfit ExtraBold"/>
                </a:rPr>
                <a:t>Pro</a:t>
              </a:r>
              <a:r>
                <a:rPr lang="en-US" sz="7200">
                  <a:solidFill>
                    <a:srgbClr val="FFFFFF"/>
                  </a:solidFill>
                  <a:latin typeface="Outfit ExtraBold"/>
                  <a:ea typeface="Outfit ExtraBold"/>
                  <a:cs typeface="Outfit ExtraBold"/>
                  <a:sym typeface="Outfit ExtraBold"/>
                </a:rPr>
                <a:t>bX</a:t>
              </a:r>
              <a:endParaRPr b="0" sz="7200">
                <a:solidFill>
                  <a:srgbClr val="FFFFFF"/>
                </a:solidFill>
                <a:latin typeface="Outfit ExtraBold"/>
                <a:ea typeface="Outfit ExtraBold"/>
                <a:cs typeface="Outfit ExtraBold"/>
                <a:sym typeface="Outfit ExtraBold"/>
              </a:endParaRPr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0" y="1333500"/>
              <a:ext cx="5238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950">
                  <a:solidFill>
                    <a:srgbClr val="94A3B8"/>
                  </a:solidFill>
                  <a:latin typeface="Outfit"/>
                  <a:ea typeface="Outfit"/>
                  <a:cs typeface="Outfit"/>
                  <a:sym typeface="Outfit"/>
                </a:rPr>
                <a:t>A Decentralized Prediction Market on Cardano</a:t>
              </a:r>
              <a:endParaRPr b="0" sz="195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88" name="Google Shape;88;p13"/>
          <p:cNvGrpSpPr/>
          <p:nvPr/>
        </p:nvGrpSpPr>
        <p:grpSpPr>
          <a:xfrm>
            <a:off x="952500" y="4000500"/>
            <a:ext cx="1238400" cy="381000"/>
            <a:chOff x="0" y="0"/>
            <a:chExt cx="1238400" cy="381000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1238400" cy="381000"/>
            </a:xfrm>
            <a:prstGeom prst="roundRect">
              <a:avLst>
                <a:gd fmla="val 50000" name="adj"/>
              </a:avLst>
            </a:prstGeom>
            <a:solidFill>
              <a:srgbClr val="3B82F6">
                <a:alpha val="15000"/>
              </a:srgbClr>
            </a:solidFill>
            <a:ln cap="flat" cmpd="sng" w="143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0" y="0"/>
              <a:ext cx="1238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60A5FA"/>
                  </a:solidFill>
                  <a:latin typeface="Inter"/>
                  <a:ea typeface="Inter"/>
                  <a:cs typeface="Inter"/>
                  <a:sym typeface="Inter"/>
                </a:rPr>
                <a:t>PREDICT</a:t>
              </a:r>
              <a:endParaRPr b="1" sz="900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1" name="Google Shape;91;p13"/>
          <p:cNvGrpSpPr/>
          <p:nvPr/>
        </p:nvGrpSpPr>
        <p:grpSpPr>
          <a:xfrm>
            <a:off x="2333625" y="4000500"/>
            <a:ext cx="1238400" cy="381000"/>
            <a:chOff x="0" y="0"/>
            <a:chExt cx="1238400" cy="381000"/>
          </a:xfrm>
        </p:grpSpPr>
        <p:sp>
          <p:nvSpPr>
            <p:cNvPr id="92" name="Google Shape;92;p13"/>
            <p:cNvSpPr/>
            <p:nvPr/>
          </p:nvSpPr>
          <p:spPr>
            <a:xfrm>
              <a:off x="0" y="0"/>
              <a:ext cx="1238400" cy="381000"/>
            </a:xfrm>
            <a:prstGeom prst="roundRect">
              <a:avLst>
                <a:gd fmla="val 50000" name="adj"/>
              </a:avLst>
            </a:prstGeom>
            <a:solidFill>
              <a:srgbClr val="8B5CF6">
                <a:alpha val="15000"/>
              </a:srgbClr>
            </a:solidFill>
            <a:ln cap="flat" cmpd="sng" w="14300">
              <a:solidFill>
                <a:srgbClr val="8B5C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0" y="0"/>
              <a:ext cx="1238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A78BFA"/>
                  </a:solidFill>
                  <a:latin typeface="Inter"/>
                  <a:ea typeface="Inter"/>
                  <a:cs typeface="Inter"/>
                  <a:sym typeface="Inter"/>
                </a:rPr>
                <a:t>VERIFY</a:t>
              </a:r>
              <a:endParaRPr b="1" sz="900">
                <a:solidFill>
                  <a:srgbClr val="A78BF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4" name="Google Shape;94;p13"/>
          <p:cNvGrpSpPr/>
          <p:nvPr/>
        </p:nvGrpSpPr>
        <p:grpSpPr>
          <a:xfrm>
            <a:off x="3714750" y="4000500"/>
            <a:ext cx="1238400" cy="381000"/>
            <a:chOff x="0" y="0"/>
            <a:chExt cx="1238400" cy="381000"/>
          </a:xfrm>
        </p:grpSpPr>
        <p:sp>
          <p:nvSpPr>
            <p:cNvPr id="95" name="Google Shape;95;p13"/>
            <p:cNvSpPr/>
            <p:nvPr/>
          </p:nvSpPr>
          <p:spPr>
            <a:xfrm>
              <a:off x="0" y="0"/>
              <a:ext cx="1238400" cy="381000"/>
            </a:xfrm>
            <a:prstGeom prst="roundRect">
              <a:avLst>
                <a:gd fmla="val 50000" name="adj"/>
              </a:avLst>
            </a:prstGeom>
            <a:solidFill>
              <a:srgbClr val="10B981">
                <a:alpha val="15000"/>
              </a:srgbClr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 txBox="1"/>
            <p:nvPr/>
          </p:nvSpPr>
          <p:spPr>
            <a:xfrm>
              <a:off x="0" y="0"/>
              <a:ext cx="1238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34D399"/>
                  </a:solidFill>
                  <a:latin typeface="Inter"/>
                  <a:ea typeface="Inter"/>
                  <a:cs typeface="Inter"/>
                  <a:sym typeface="Inter"/>
                </a:rPr>
                <a:t>REWARD</a:t>
              </a:r>
              <a:endParaRPr b="1" sz="900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7" name="Google Shape;97;p13"/>
          <p:cNvGrpSpPr/>
          <p:nvPr/>
        </p:nvGrpSpPr>
        <p:grpSpPr>
          <a:xfrm>
            <a:off x="6858000" y="1524000"/>
            <a:ext cx="4381500" cy="3619500"/>
            <a:chOff x="0" y="0"/>
            <a:chExt cx="4381500" cy="3619500"/>
          </a:xfrm>
        </p:grpSpPr>
        <p:sp>
          <p:nvSpPr>
            <p:cNvPr id="98" name="Google Shape;98;p13"/>
            <p:cNvSpPr/>
            <p:nvPr/>
          </p:nvSpPr>
          <p:spPr>
            <a:xfrm>
              <a:off x="0" y="0"/>
              <a:ext cx="4381500" cy="3619500"/>
            </a:xfrm>
            <a:prstGeom prst="roundRect">
              <a:avLst>
                <a:gd fmla="val 6315" name="adj"/>
              </a:avLst>
            </a:prstGeom>
            <a:solidFill>
              <a:srgbClr val="090D1E">
                <a:alpha val="85000"/>
              </a:srgbClr>
            </a:solidFill>
            <a:ln cap="flat" cmpd="sng" w="1905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285750" y="285750"/>
              <a:ext cx="1047900" cy="247800"/>
            </a:xfrm>
            <a:prstGeom prst="roundRect">
              <a:avLst>
                <a:gd fmla="val 50000" name="adj"/>
              </a:avLst>
            </a:prstGeom>
            <a:solidFill>
              <a:srgbClr val="3B82F6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 txBox="1"/>
            <p:nvPr/>
          </p:nvSpPr>
          <p:spPr>
            <a:xfrm>
              <a:off x="285750" y="285750"/>
              <a:ext cx="10479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50">
                  <a:solidFill>
                    <a:srgbClr val="60A5FA"/>
                  </a:solidFill>
                  <a:latin typeface="Inter"/>
                  <a:ea typeface="Inter"/>
                  <a:cs typeface="Inter"/>
                  <a:sym typeface="Inter"/>
                </a:rPr>
                <a:t>ACTIVE MARKET</a:t>
              </a:r>
              <a:endParaRPr b="1" sz="750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1" name="Google Shape;101;p13"/>
            <p:cNvSpPr txBox="1"/>
            <p:nvPr/>
          </p:nvSpPr>
          <p:spPr>
            <a:xfrm>
              <a:off x="285750" y="714375"/>
              <a:ext cx="3810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Will active Cardano smart contracts exceed 15,000 by year-end?</a:t>
              </a:r>
              <a:endParaRPr b="0" sz="18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grpSp>
          <p:nvGrpSpPr>
            <p:cNvPr id="102" name="Google Shape;102;p13"/>
            <p:cNvGrpSpPr/>
            <p:nvPr/>
          </p:nvGrpSpPr>
          <p:grpSpPr>
            <a:xfrm>
              <a:off x="285750" y="1762125"/>
              <a:ext cx="3810000" cy="457200"/>
              <a:chOff x="0" y="0"/>
              <a:chExt cx="3810000" cy="457200"/>
            </a:xfrm>
          </p:grpSpPr>
          <p:sp>
            <p:nvSpPr>
              <p:cNvPr id="103" name="Google Shape;103;p13"/>
              <p:cNvSpPr/>
              <p:nvPr/>
            </p:nvSpPr>
            <p:spPr>
              <a:xfrm>
                <a:off x="0" y="0"/>
                <a:ext cx="3810000" cy="457200"/>
              </a:xfrm>
              <a:prstGeom prst="roundRect">
                <a:avLst>
                  <a:gd fmla="val 25000" name="adj"/>
                </a:avLst>
              </a:prstGeom>
              <a:solidFill>
                <a:srgbClr val="10B981">
                  <a:alpha val="10000"/>
                </a:srgbClr>
              </a:solidFill>
              <a:ln cap="flat" cmpd="sng" w="14300">
                <a:solidFill>
                  <a:srgbClr val="10B98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0" y="0"/>
                <a:ext cx="2476500" cy="457200"/>
              </a:xfrm>
              <a:prstGeom prst="roundRect">
                <a:avLst>
                  <a:gd fmla="val 25000" name="adj"/>
                </a:avLst>
              </a:prstGeom>
              <a:solidFill>
                <a:srgbClr val="10B981">
                  <a:alpha val="2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3"/>
              <p:cNvSpPr txBox="1"/>
              <p:nvPr/>
            </p:nvSpPr>
            <p:spPr>
              <a:xfrm>
                <a:off x="190500" y="0"/>
                <a:ext cx="3429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34D399"/>
                    </a:solidFill>
                    <a:latin typeface="Inter"/>
                    <a:ea typeface="Inter"/>
                    <a:cs typeface="Inter"/>
                    <a:sym typeface="Inter"/>
                  </a:rPr>
                  <a:t>YES (65%)1.54 ADA</a:t>
                </a:r>
                <a:endParaRPr b="1" sz="1200">
                  <a:solidFill>
                    <a:srgbClr val="34D39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6" name="Google Shape;106;p13"/>
            <p:cNvGrpSpPr/>
            <p:nvPr/>
          </p:nvGrpSpPr>
          <p:grpSpPr>
            <a:xfrm>
              <a:off x="285750" y="2362200"/>
              <a:ext cx="3810000" cy="457200"/>
              <a:chOff x="0" y="0"/>
              <a:chExt cx="3810000" cy="457200"/>
            </a:xfrm>
          </p:grpSpPr>
          <p:sp>
            <p:nvSpPr>
              <p:cNvPr id="107" name="Google Shape;107;p13"/>
              <p:cNvSpPr/>
              <p:nvPr/>
            </p:nvSpPr>
            <p:spPr>
              <a:xfrm>
                <a:off x="0" y="0"/>
                <a:ext cx="3810000" cy="457200"/>
              </a:xfrm>
              <a:prstGeom prst="roundRect">
                <a:avLst>
                  <a:gd fmla="val 25000" name="adj"/>
                </a:avLst>
              </a:prstGeom>
              <a:solidFill>
                <a:srgbClr val="EF4444">
                  <a:alpha val="10000"/>
                </a:srgbClr>
              </a:solidFill>
              <a:ln cap="flat" cmpd="sng" w="14300">
                <a:solidFill>
                  <a:srgbClr val="EF444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0" y="0"/>
                <a:ext cx="1333500" cy="457200"/>
              </a:xfrm>
              <a:prstGeom prst="roundRect">
                <a:avLst>
                  <a:gd fmla="val 25000" name="adj"/>
                </a:avLst>
              </a:prstGeom>
              <a:solidFill>
                <a:srgbClr val="EF4444">
                  <a:alpha val="25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3"/>
              <p:cNvSpPr txBox="1"/>
              <p:nvPr/>
            </p:nvSpPr>
            <p:spPr>
              <a:xfrm>
                <a:off x="190500" y="0"/>
                <a:ext cx="3429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87171"/>
                    </a:solidFill>
                    <a:latin typeface="Inter"/>
                    <a:ea typeface="Inter"/>
                    <a:cs typeface="Inter"/>
                    <a:sym typeface="Inter"/>
                  </a:rPr>
                  <a:t>NO (35%)2.86 ADA</a:t>
                </a:r>
                <a:endParaRPr b="1" sz="1200">
                  <a:solidFill>
                    <a:srgbClr val="F8717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110" name="Google Shape;110;p13"/>
            <p:cNvSpPr txBox="1"/>
            <p:nvPr/>
          </p:nvSpPr>
          <p:spPr>
            <a:xfrm>
              <a:off x="285750" y="304800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75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Volume: 450,230 ADA   •   Closes in 14 days</a:t>
              </a:r>
              <a:endParaRPr b="0" sz="975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581025" y="581025"/>
            <a:ext cx="11581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Problem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038225" y="1814066"/>
            <a:ext cx="48198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Centralized platforms control user funds completely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038225" y="2712987"/>
            <a:ext cx="48198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Market resolutions lack cryptographic transparency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038225" y="3611909"/>
            <a:ext cx="48198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Users are forced to trust opaque intermediaries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038225" y="4175670"/>
            <a:ext cx="48198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Extremely limited community governance participation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038225" y="5074592"/>
            <a:ext cx="48198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High operational and middleman costs reduce payouts</a:t>
            </a:r>
            <a:endParaRPr/>
          </a:p>
        </p:txBody>
      </p:sp>
      <p:pic>
        <p:nvPicPr>
          <p:cNvPr descr="image.png" id="122" name="Google Shape;12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42641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7415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40484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20424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510316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as image" id="131" name="Google Shape;13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050" y="948630"/>
            <a:ext cx="5400675" cy="2815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0417" y="948618"/>
            <a:ext cx="5400675" cy="2815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5300" y="4057343"/>
            <a:ext cx="5400675" cy="2815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300" y="4048719"/>
            <a:ext cx="5400675" cy="281553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460275" y="3186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Our Solution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988" y="151060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700088" y="2377380"/>
            <a:ext cx="501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Connect &amp; Create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77988" y="2763598"/>
            <a:ext cx="4772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Connect your Cardano wallet instantly. Propose and create prediction markets for any verifiable real-world event without permission.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8067" y="151060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6670242" y="2283580"/>
            <a:ext cx="501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Trade Positions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447000" y="2794548"/>
            <a:ext cx="4772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Buy YES or NO outcome positions using ADA. Trade continuously with deep liquidity until the market strictly closes.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5350" y="4467224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895350" y="5231010"/>
            <a:ext cx="501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Trustless Execution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95350" y="5680174"/>
            <a:ext cx="4772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Decentralized oracles cryptographically verify the outcome, ensuring no single entity controls or manipulates the market truth. (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Future Scope)</a:t>
            </a:r>
            <a:endParaRPr/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4363044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6524625" y="5201244"/>
            <a:ext cx="501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Automated Rewards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524625" y="5635525"/>
            <a:ext cx="4772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Smart contracts execute automatically, distributing ADA rewards directly to winning wallets with zero intermediary fees.</a:t>
            </a:r>
            <a:endParaRPr/>
          </a:p>
        </p:txBody>
      </p:sp>
      <p:pic>
        <p:nvPicPr>
          <p:cNvPr descr="image.png" id="153" name="Google Shape;15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9438" y="1620143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10467" y="168205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750" y="4623791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77025" y="4534494"/>
            <a:ext cx="3048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874740"/>
            <a:ext cx="1102995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581025" y="581025"/>
            <a:ext cx="11581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How P</a:t>
            </a: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ROPHC</a:t>
            </a: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 Works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54968" y="422716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712112" y="4989165"/>
            <a:ext cx="249531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1. Setup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771525" y="5339655"/>
            <a:ext cx="23764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User connects wallet &amp; creates or joins a prediction market</a:t>
            </a:r>
            <a:endParaRPr/>
          </a:p>
        </p:txBody>
      </p:sp>
      <p:pic>
        <p:nvPicPr>
          <p:cNvPr descr="image.png" id="167" name="Google Shape;16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2456" y="1960364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3469600" y="2722364"/>
            <a:ext cx="249531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2. Trade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3529012" y="3072854"/>
            <a:ext cx="23764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User purchases YES/NO shares; ADA is locked in smart contract</a:t>
            </a:r>
            <a:endParaRPr/>
          </a:p>
        </p:txBody>
      </p:sp>
      <p:pic>
        <p:nvPicPr>
          <p:cNvPr descr="image.png" id="170" name="Google Shape;17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69943" y="422716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6227087" y="4989165"/>
            <a:ext cx="249531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3. Resolve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286500" y="5339655"/>
            <a:ext cx="2376487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Event ends and Decentralized Oracle verifies the outcome</a:t>
            </a:r>
            <a:endParaRPr/>
          </a:p>
        </p:txBody>
      </p:sp>
      <p:pic>
        <p:nvPicPr>
          <p:cNvPr descr="image.png" id="173" name="Google Shape;17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27431" y="171658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8984575" y="2478583"/>
            <a:ext cx="249531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4. Distribute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9043987" y="2829073"/>
            <a:ext cx="23764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Smart contract instantly distributes rewards to winning wallets</a:t>
            </a:r>
            <a:endParaRPr/>
          </a:p>
        </p:txBody>
      </p:sp>
      <p:pic>
        <p:nvPicPr>
          <p:cNvPr descr="image.png" id="176" name="Google Shape;17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93081" y="439861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83906" y="2131814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308056" y="439861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79831" y="1888033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/>
          <p:nvPr/>
        </p:nvSpPr>
        <p:spPr>
          <a:xfrm>
            <a:off x="1845468" y="377949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30712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4602956" y="377949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30712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7360443" y="377949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30712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10117931" y="377949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30712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18"/>
          <p:cNvGrpSpPr/>
          <p:nvPr/>
        </p:nvGrpSpPr>
        <p:grpSpPr>
          <a:xfrm>
            <a:off x="581025" y="581025"/>
            <a:ext cx="11030100" cy="571500"/>
            <a:chOff x="0" y="0"/>
            <a:chExt cx="11030100" cy="571500"/>
          </a:xfrm>
        </p:grpSpPr>
        <p:sp>
          <p:nvSpPr>
            <p:cNvPr id="190" name="Google Shape;190;p18"/>
            <p:cNvSpPr/>
            <p:nvPr/>
          </p:nvSpPr>
          <p:spPr>
            <a:xfrm>
              <a:off x="0" y="0"/>
              <a:ext cx="110301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8"/>
            <p:cNvSpPr txBox="1"/>
            <p:nvPr/>
          </p:nvSpPr>
          <p:spPr>
            <a:xfrm>
              <a:off x="0" y="0"/>
              <a:ext cx="11030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How Pricing Works (LMSR)</a:t>
              </a:r>
              <a:endParaRPr b="0" sz="3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grpSp>
        <p:nvGrpSpPr>
          <p:cNvPr id="192" name="Google Shape;192;p18"/>
          <p:cNvGrpSpPr/>
          <p:nvPr/>
        </p:nvGrpSpPr>
        <p:grpSpPr>
          <a:xfrm>
            <a:off x="581025" y="1714500"/>
            <a:ext cx="11039550" cy="4000500"/>
            <a:chOff x="581025" y="1714500"/>
            <a:chExt cx="11039550" cy="4000500"/>
          </a:xfrm>
        </p:grpSpPr>
        <p:sp>
          <p:nvSpPr>
            <p:cNvPr id="193" name="Google Shape;193;p18"/>
            <p:cNvSpPr/>
            <p:nvPr/>
          </p:nvSpPr>
          <p:spPr>
            <a:xfrm>
              <a:off x="581025" y="1714500"/>
              <a:ext cx="2524200" cy="4000500"/>
            </a:xfrm>
            <a:prstGeom prst="roundRect">
              <a:avLst>
                <a:gd fmla="val 6037" name="adj"/>
              </a:avLst>
            </a:prstGeom>
            <a:solidFill>
              <a:srgbClr val="0E1526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8"/>
            <p:cNvSpPr/>
            <p:nvPr/>
          </p:nvSpPr>
          <p:spPr>
            <a:xfrm>
              <a:off x="3419475" y="1714500"/>
              <a:ext cx="2524200" cy="4000500"/>
            </a:xfrm>
            <a:prstGeom prst="roundRect">
              <a:avLst>
                <a:gd fmla="val 6037" name="adj"/>
              </a:avLst>
            </a:prstGeom>
            <a:solidFill>
              <a:srgbClr val="0E1526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6257925" y="1714500"/>
              <a:ext cx="2524200" cy="4000500"/>
            </a:xfrm>
            <a:prstGeom prst="roundRect">
              <a:avLst>
                <a:gd fmla="val 6037" name="adj"/>
              </a:avLst>
            </a:prstGeom>
            <a:solidFill>
              <a:srgbClr val="0E1526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/>
            <p:nvPr/>
          </p:nvSpPr>
          <p:spPr>
            <a:xfrm>
              <a:off x="9096375" y="1714500"/>
              <a:ext cx="2524200" cy="4000500"/>
            </a:xfrm>
            <a:prstGeom prst="roundRect">
              <a:avLst>
                <a:gd fmla="val 6037" name="adj"/>
              </a:avLst>
            </a:prstGeom>
            <a:solidFill>
              <a:srgbClr val="0E1526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" name="Google Shape;197;p18"/>
          <p:cNvGrpSpPr/>
          <p:nvPr/>
        </p:nvGrpSpPr>
        <p:grpSpPr>
          <a:xfrm>
            <a:off x="581025" y="1714500"/>
            <a:ext cx="2524200" cy="4000500"/>
            <a:chOff x="0" y="0"/>
            <a:chExt cx="2524200" cy="4000500"/>
          </a:xfrm>
        </p:grpSpPr>
        <p:sp>
          <p:nvSpPr>
            <p:cNvPr id="198" name="Google Shape;198;p18"/>
            <p:cNvSpPr/>
            <p:nvPr/>
          </p:nvSpPr>
          <p:spPr>
            <a:xfrm>
              <a:off x="0" y="0"/>
              <a:ext cx="2524200" cy="400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8"/>
            <p:cNvSpPr txBox="1"/>
            <p:nvPr/>
          </p:nvSpPr>
          <p:spPr>
            <a:xfrm>
              <a:off x="0" y="0"/>
              <a:ext cx="25242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B82F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01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Equal Start</a:t>
              </a:r>
              <a:endParaRPr b="0" sz="18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prediction market initializes at a balanced state, with probabilities set strictly at </a:t>
              </a:r>
              <a:r>
                <a:rPr b="0" lang="en-US" sz="120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50% YES / 50% NO</a:t>
              </a: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0" name="Google Shape;200;p18"/>
          <p:cNvGrpSpPr/>
          <p:nvPr/>
        </p:nvGrpSpPr>
        <p:grpSpPr>
          <a:xfrm>
            <a:off x="3419475" y="1714500"/>
            <a:ext cx="2524200" cy="4000500"/>
            <a:chOff x="0" y="0"/>
            <a:chExt cx="2524200" cy="4000500"/>
          </a:xfrm>
        </p:grpSpPr>
        <p:sp>
          <p:nvSpPr>
            <p:cNvPr id="201" name="Google Shape;201;p18"/>
            <p:cNvSpPr/>
            <p:nvPr/>
          </p:nvSpPr>
          <p:spPr>
            <a:xfrm>
              <a:off x="0" y="0"/>
              <a:ext cx="2524200" cy="400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8"/>
            <p:cNvSpPr txBox="1"/>
            <p:nvPr/>
          </p:nvSpPr>
          <p:spPr>
            <a:xfrm>
              <a:off x="0" y="0"/>
              <a:ext cx="25242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B82F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02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Smooth Shifts</a:t>
              </a:r>
              <a:endParaRPr b="0" sz="18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Buying YES pushes the probability up, and buying NO pushes it down. Prices adapt </a:t>
              </a:r>
              <a:r>
                <a:rPr b="0" lang="en-US" sz="120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smoothly</a:t>
              </a: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without wild, single-trade price swings.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3" name="Google Shape;203;p18"/>
          <p:cNvGrpSpPr/>
          <p:nvPr/>
        </p:nvGrpSpPr>
        <p:grpSpPr>
          <a:xfrm>
            <a:off x="6257925" y="1714500"/>
            <a:ext cx="2524200" cy="4000500"/>
            <a:chOff x="0" y="0"/>
            <a:chExt cx="2524200" cy="4000500"/>
          </a:xfrm>
        </p:grpSpPr>
        <p:sp>
          <p:nvSpPr>
            <p:cNvPr id="204" name="Google Shape;204;p18"/>
            <p:cNvSpPr/>
            <p:nvPr/>
          </p:nvSpPr>
          <p:spPr>
            <a:xfrm>
              <a:off x="0" y="0"/>
              <a:ext cx="2524200" cy="400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8"/>
            <p:cNvSpPr txBox="1"/>
            <p:nvPr/>
          </p:nvSpPr>
          <p:spPr>
            <a:xfrm>
              <a:off x="0" y="0"/>
              <a:ext cx="25242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B82F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03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On-Chain Math</a:t>
              </a:r>
              <a:endParaRPr b="0" sz="18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The Aiken validator checks price movements against a precomputed cost table. This achieves maximum efficiency with </a:t>
              </a:r>
              <a:r>
                <a:rPr b="0" lang="en-US" sz="120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no floating-point math</a:t>
              </a: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required on-chain.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6" name="Google Shape;206;p18"/>
          <p:cNvGrpSpPr/>
          <p:nvPr/>
        </p:nvGrpSpPr>
        <p:grpSpPr>
          <a:xfrm>
            <a:off x="9096375" y="1714500"/>
            <a:ext cx="2524200" cy="4000500"/>
            <a:chOff x="0" y="0"/>
            <a:chExt cx="2524200" cy="4000500"/>
          </a:xfrm>
        </p:grpSpPr>
        <p:sp>
          <p:nvSpPr>
            <p:cNvPr id="207" name="Google Shape;207;p18"/>
            <p:cNvSpPr/>
            <p:nvPr/>
          </p:nvSpPr>
          <p:spPr>
            <a:xfrm>
              <a:off x="0" y="0"/>
              <a:ext cx="2524200" cy="400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8"/>
            <p:cNvSpPr txBox="1"/>
            <p:nvPr/>
          </p:nvSpPr>
          <p:spPr>
            <a:xfrm>
              <a:off x="0" y="0"/>
              <a:ext cx="25242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3B82F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04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Softmax Logic</a:t>
              </a:r>
              <a:endParaRPr b="0" sz="18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Uses the same mathematical foundation as </a:t>
              </a:r>
              <a:r>
                <a:rPr b="0" lang="en-US" sz="120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softmax in Machine Learning</a:t>
              </a: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, where probability is the normalized exponential of cumulative shares bought.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p19"/>
          <p:cNvGrpSpPr/>
          <p:nvPr/>
        </p:nvGrpSpPr>
        <p:grpSpPr>
          <a:xfrm>
            <a:off x="581025" y="581025"/>
            <a:ext cx="11030100" cy="571500"/>
            <a:chOff x="0" y="0"/>
            <a:chExt cx="11030100" cy="571500"/>
          </a:xfrm>
        </p:grpSpPr>
        <p:sp>
          <p:nvSpPr>
            <p:cNvPr id="215" name="Google Shape;215;p19"/>
            <p:cNvSpPr/>
            <p:nvPr/>
          </p:nvSpPr>
          <p:spPr>
            <a:xfrm>
              <a:off x="0" y="0"/>
              <a:ext cx="110301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9"/>
            <p:cNvSpPr txBox="1"/>
            <p:nvPr/>
          </p:nvSpPr>
          <p:spPr>
            <a:xfrm>
              <a:off x="0" y="0"/>
              <a:ext cx="110301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Future Scope</a:t>
              </a:r>
              <a:endParaRPr b="0" sz="3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grpSp>
        <p:nvGrpSpPr>
          <p:cNvPr id="217" name="Google Shape;217;p19"/>
          <p:cNvGrpSpPr/>
          <p:nvPr/>
        </p:nvGrpSpPr>
        <p:grpSpPr>
          <a:xfrm>
            <a:off x="581025" y="1714500"/>
            <a:ext cx="11039550" cy="4000500"/>
            <a:chOff x="581025" y="1714500"/>
            <a:chExt cx="11039550" cy="4000500"/>
          </a:xfrm>
        </p:grpSpPr>
        <p:sp>
          <p:nvSpPr>
            <p:cNvPr id="218" name="Google Shape;218;p19"/>
            <p:cNvSpPr/>
            <p:nvPr/>
          </p:nvSpPr>
          <p:spPr>
            <a:xfrm>
              <a:off x="581025" y="1714500"/>
              <a:ext cx="2524200" cy="4000500"/>
            </a:xfrm>
            <a:prstGeom prst="roundRect">
              <a:avLst>
                <a:gd fmla="val 6037" name="adj"/>
              </a:avLst>
            </a:prstGeom>
            <a:solidFill>
              <a:srgbClr val="0E1526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9"/>
            <p:cNvSpPr/>
            <p:nvPr/>
          </p:nvSpPr>
          <p:spPr>
            <a:xfrm>
              <a:off x="3419475" y="1714500"/>
              <a:ext cx="2524200" cy="4000500"/>
            </a:xfrm>
            <a:prstGeom prst="roundRect">
              <a:avLst>
                <a:gd fmla="val 6037" name="adj"/>
              </a:avLst>
            </a:prstGeom>
            <a:solidFill>
              <a:srgbClr val="0E1526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9"/>
            <p:cNvSpPr/>
            <p:nvPr/>
          </p:nvSpPr>
          <p:spPr>
            <a:xfrm>
              <a:off x="6257925" y="1714500"/>
              <a:ext cx="2524200" cy="4000500"/>
            </a:xfrm>
            <a:prstGeom prst="roundRect">
              <a:avLst>
                <a:gd fmla="val 6037" name="adj"/>
              </a:avLst>
            </a:prstGeom>
            <a:solidFill>
              <a:srgbClr val="0E1526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9"/>
            <p:cNvSpPr/>
            <p:nvPr/>
          </p:nvSpPr>
          <p:spPr>
            <a:xfrm>
              <a:off x="9096375" y="1714500"/>
              <a:ext cx="2524200" cy="4000500"/>
            </a:xfrm>
            <a:prstGeom prst="roundRect">
              <a:avLst>
                <a:gd fmla="val 6037" name="adj"/>
              </a:avLst>
            </a:prstGeom>
            <a:solidFill>
              <a:srgbClr val="0E1526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19"/>
          <p:cNvSpPr txBox="1"/>
          <p:nvPr/>
        </p:nvSpPr>
        <p:spPr>
          <a:xfrm>
            <a:off x="581025" y="1714500"/>
            <a:ext cx="25242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B82F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01  /  SECURITY</a:t>
            </a:r>
            <a:endParaRPr b="0" sz="1100">
              <a:solidFill>
                <a:srgbClr val="3B82F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Robust Trust</a:t>
            </a:r>
            <a:endParaRPr b="0" sz="1800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Security Audit</a:t>
            </a:r>
            <a:br>
              <a:rPr b="0"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Third-party smart contract audit + fuzz testing on solvency logic before mainnet.</a:t>
            </a:r>
            <a:endParaRPr b="0" sz="1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Any-of-N Keys</a:t>
            </a:r>
            <a:br>
              <a:rPr b="0"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Remove single-point-of-failure signing for admin/resolver keys.</a:t>
            </a:r>
            <a:endParaRPr b="0" sz="1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3419475" y="1714500"/>
            <a:ext cx="25242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B82F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02  /  ORACLES</a:t>
            </a:r>
            <a:endParaRPr b="0" sz="1100">
              <a:solidFill>
                <a:srgbClr val="3B82F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Decentralization</a:t>
            </a:r>
            <a:endParaRPr b="0" sz="1800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Oracle Upgrades</a:t>
            </a:r>
            <a:br>
              <a:rPr b="0"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Replace single resolver key with Charli3 or dispute/staking oracle models.</a:t>
            </a:r>
            <a:endParaRPr b="0" sz="1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Monitoring</a:t>
            </a:r>
            <a:br>
              <a:rPr b="0"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Oracle staleness alerts, reconciler/indexer uptime, and key management via HSM.</a:t>
            </a:r>
            <a:endParaRPr b="0" sz="1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6257925" y="1714500"/>
            <a:ext cx="25242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B82F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03  /  PROTOCOL</a:t>
            </a:r>
            <a:endParaRPr b="0" sz="1100">
              <a:solidFill>
                <a:srgbClr val="3B82F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Scale &amp; Yield</a:t>
            </a:r>
            <a:endParaRPr b="0" sz="1800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Scale UTxO</a:t>
            </a:r>
            <a:br>
              <a:rPr b="0"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Redesign beyond single market-UTxO for concurrent trade throughput.</a:t>
            </a:r>
            <a:endParaRPr b="0" sz="1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Real Fee Model</a:t>
            </a:r>
            <a:br>
              <a:rPr b="0"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Protocol fee + LP yield to sustain long-term liquidity incentives.</a:t>
            </a:r>
            <a:endParaRPr b="0" sz="1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9096375" y="1714500"/>
            <a:ext cx="25242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3B82F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04  /  REGULATORY</a:t>
            </a:r>
            <a:endParaRPr b="0" sz="1100">
              <a:solidFill>
                <a:srgbClr val="3B82F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Compliance &amp; UX</a:t>
            </a:r>
            <a:endParaRPr b="0" sz="1800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Compliance Layer</a:t>
            </a:r>
            <a:br>
              <a:rPr b="0"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KYC/AML, age verification, and geographical jurisdictional restrictions.</a:t>
            </a:r>
            <a:endParaRPr b="0" sz="1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Fiat On/Off-Ramp</a:t>
            </a:r>
            <a:br>
              <a:rPr b="0"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lang="en-US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Buy ADA directly with card and cash out seamlessly to bank accounts.</a:t>
            </a:r>
            <a:endParaRPr b="0" sz="11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20"/>
          <p:cNvGrpSpPr/>
          <p:nvPr/>
        </p:nvGrpSpPr>
        <p:grpSpPr>
          <a:xfrm>
            <a:off x="571500" y="1714500"/>
            <a:ext cx="11049000" cy="4191000"/>
            <a:chOff x="571500" y="1714500"/>
            <a:chExt cx="11049000" cy="4191000"/>
          </a:xfrm>
        </p:grpSpPr>
        <p:sp>
          <p:nvSpPr>
            <p:cNvPr id="232" name="Google Shape;232;p20"/>
            <p:cNvSpPr/>
            <p:nvPr/>
          </p:nvSpPr>
          <p:spPr>
            <a:xfrm>
              <a:off x="571500" y="1714500"/>
              <a:ext cx="2057400" cy="4191000"/>
            </a:xfrm>
            <a:prstGeom prst="roundRect">
              <a:avLst>
                <a:gd fmla="val 7407" name="adj"/>
              </a:avLst>
            </a:prstGeom>
            <a:solidFill>
              <a:srgbClr val="0E1526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2819400" y="1714500"/>
              <a:ext cx="2057400" cy="4191000"/>
            </a:xfrm>
            <a:prstGeom prst="roundRect">
              <a:avLst>
                <a:gd fmla="val 7407" name="adj"/>
              </a:avLst>
            </a:prstGeom>
            <a:solidFill>
              <a:srgbClr val="0E1526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5067300" y="1714500"/>
              <a:ext cx="2057400" cy="4191000"/>
            </a:xfrm>
            <a:prstGeom prst="roundRect">
              <a:avLst>
                <a:gd fmla="val 7407" name="adj"/>
              </a:avLst>
            </a:prstGeom>
            <a:solidFill>
              <a:srgbClr val="0E1526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7315200" y="1714500"/>
              <a:ext cx="2057400" cy="4191000"/>
            </a:xfrm>
            <a:prstGeom prst="roundRect">
              <a:avLst>
                <a:gd fmla="val 7407" name="adj"/>
              </a:avLst>
            </a:prstGeom>
            <a:solidFill>
              <a:srgbClr val="0E1526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9563100" y="1714500"/>
              <a:ext cx="2057400" cy="4191000"/>
            </a:xfrm>
            <a:prstGeom prst="roundRect">
              <a:avLst>
                <a:gd fmla="val 7407" name="adj"/>
              </a:avLst>
            </a:prstGeom>
            <a:solidFill>
              <a:srgbClr val="0E1526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7" name="Google Shape;237;p20"/>
          <p:cNvGrpSpPr/>
          <p:nvPr/>
        </p:nvGrpSpPr>
        <p:grpSpPr>
          <a:xfrm>
            <a:off x="571500" y="1714500"/>
            <a:ext cx="11049000" cy="4191000"/>
            <a:chOff x="571500" y="1714500"/>
            <a:chExt cx="11049000" cy="4191000"/>
          </a:xfrm>
        </p:grpSpPr>
        <p:sp>
          <p:nvSpPr>
            <p:cNvPr id="238" name="Google Shape;238;p20"/>
            <p:cNvSpPr txBox="1"/>
            <p:nvPr/>
          </p:nvSpPr>
          <p:spPr>
            <a:xfrm>
              <a:off x="571500" y="1714500"/>
              <a:ext cx="20574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account_balance_wallet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Wallet Integration</a:t>
              </a:r>
              <a:endParaRPr b="0" sz="1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CIP-30 wallet support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Secure authentication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Frictionless onboarding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9" name="Google Shape;239;p20"/>
            <p:cNvSpPr txBox="1"/>
            <p:nvPr/>
          </p:nvSpPr>
          <p:spPr>
            <a:xfrm>
              <a:off x="2819400" y="1714500"/>
              <a:ext cx="20574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Prediction Markets</a:t>
              </a:r>
              <a:endParaRPr b="0" sz="1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Create custom markets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Browse active events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Seamlessly trade positions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0" name="Google Shape;240;p20"/>
            <p:cNvSpPr txBox="1"/>
            <p:nvPr/>
          </p:nvSpPr>
          <p:spPr>
            <a:xfrm>
              <a:off x="5067300" y="1714500"/>
              <a:ext cx="20574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history_edu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Smart Contracts</a:t>
              </a:r>
              <a:endParaRPr b="0" sz="1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Trustless execution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Automatic settlement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Secure on-chain fund locking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1" name="Google Shape;241;p20"/>
            <p:cNvSpPr txBox="1"/>
            <p:nvPr/>
          </p:nvSpPr>
          <p:spPr>
            <a:xfrm>
              <a:off x="7315200" y="1714500"/>
              <a:ext cx="20574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Transparency</a:t>
              </a:r>
              <a:endParaRPr b="0" sz="1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-2984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Fully on-chain transactions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Publicly verifiable outcomes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Inter"/>
                <a:buChar char="●"/>
              </a:pPr>
              <a:r>
                <a:rPr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Immutable historical records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2" name="Google Shape;242;p20"/>
            <p:cNvSpPr txBox="1"/>
            <p:nvPr/>
          </p:nvSpPr>
          <p:spPr>
            <a:xfrm>
              <a:off x="9563100" y="1714500"/>
              <a:ext cx="2057400" cy="419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2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endParaRPr sz="222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48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Governance</a:t>
              </a:r>
              <a:endParaRPr b="0" sz="148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-293211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94A3B8"/>
                </a:buClr>
                <a:buSzPts val="1018"/>
                <a:buFont typeface="Inter"/>
                <a:buChar char="●"/>
              </a:pPr>
              <a:r>
                <a:rPr lang="en-US" sz="10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Community-driven improvements</a:t>
              </a:r>
              <a:endParaRPr sz="10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018"/>
                <a:buFont typeface="Inter"/>
                <a:buChar char="●"/>
              </a:pPr>
              <a:r>
                <a:rPr lang="en-US" sz="10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Transparent protocol treasury</a:t>
              </a:r>
              <a:endParaRPr sz="10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3211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94A3B8"/>
                </a:buClr>
                <a:buSzPts val="1018"/>
                <a:buFont typeface="Inter"/>
                <a:buChar char="●"/>
              </a:pPr>
              <a:r>
                <a:rPr lang="en-US" sz="10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Decentralized decision making</a:t>
              </a:r>
              <a:endParaRPr sz="10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43" name="Google Shape;243;p20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Platform Features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84784" y="2156519"/>
            <a:ext cx="2426493" cy="1527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2753" y="2156519"/>
            <a:ext cx="2426493" cy="1527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0721" y="2156519"/>
            <a:ext cx="2426493" cy="1527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4784" y="4103340"/>
            <a:ext cx="2426493" cy="1527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82753" y="4103340"/>
            <a:ext cx="2426493" cy="1527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80721" y="4103340"/>
            <a:ext cx="2426493" cy="152772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581025" y="581025"/>
            <a:ext cx="11581447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System Architecture</a:t>
            </a:r>
            <a:endParaRPr/>
          </a:p>
        </p:txBody>
      </p:sp>
      <p:pic>
        <p:nvPicPr>
          <p:cNvPr descr="image.png" id="256" name="Google Shape;256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25578" y="2806005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23546" y="2806005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25578" y="4752826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23546" y="4752826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07531" y="239464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1"/>
          <p:cNvSpPr txBox="1"/>
          <p:nvPr/>
        </p:nvSpPr>
        <p:spPr>
          <a:xfrm>
            <a:off x="2877978" y="2928044"/>
            <a:ext cx="840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Frontend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2817018" y="3232844"/>
            <a:ext cx="9620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React + Next.js</a:t>
            </a:r>
            <a:endParaRPr/>
          </a:p>
        </p:txBody>
      </p:sp>
      <p:pic>
        <p:nvPicPr>
          <p:cNvPr descr="image.png" id="263" name="Google Shape;263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05500" y="2394644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 txBox="1"/>
          <p:nvPr/>
        </p:nvSpPr>
        <p:spPr>
          <a:xfrm>
            <a:off x="5505926" y="2928044"/>
            <a:ext cx="118014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Wallet Layer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5514975" y="3232844"/>
            <a:ext cx="11620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Mesh SDK + CIP-8</a:t>
            </a:r>
            <a:endParaRPr/>
          </a:p>
        </p:txBody>
      </p:sp>
      <p:pic>
        <p:nvPicPr>
          <p:cNvPr descr="image.png" id="266" name="Google Shape;266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727281" y="2394644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8493918" y="2928044"/>
            <a:ext cx="80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Backend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8327231" y="3232844"/>
            <a:ext cx="11334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Node.js + Express</a:t>
            </a:r>
            <a:endParaRPr/>
          </a:p>
        </p:txBody>
      </p:sp>
      <p:pic>
        <p:nvPicPr>
          <p:cNvPr descr="image.png" id="269" name="Google Shape;269;p2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059906" y="434146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 txBox="1"/>
          <p:nvPr/>
        </p:nvSpPr>
        <p:spPr>
          <a:xfrm>
            <a:off x="2802969" y="4874865"/>
            <a:ext cx="99012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Blockchain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2745581" y="5179665"/>
            <a:ext cx="11049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Cardano Network</a:t>
            </a:r>
            <a:endParaRPr/>
          </a:p>
        </p:txBody>
      </p:sp>
      <p:pic>
        <p:nvPicPr>
          <p:cNvPr descr="image.png" id="272" name="Google Shape;272;p2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5881687" y="434146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5335905" y="4874865"/>
            <a:ext cx="15201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Smart Contracts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5667375" y="5179665"/>
            <a:ext cx="8572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Aiken / Plutus</a:t>
            </a:r>
            <a:endParaRPr/>
          </a:p>
        </p:txBody>
      </p:sp>
      <p:pic>
        <p:nvPicPr>
          <p:cNvPr descr="image.png" id="275" name="Google Shape;275;p2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727281" y="434146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1"/>
          <p:cNvSpPr txBox="1"/>
          <p:nvPr/>
        </p:nvSpPr>
        <p:spPr>
          <a:xfrm>
            <a:off x="8368903" y="4874865"/>
            <a:ext cx="1050131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Data Layer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8417718" y="5179665"/>
            <a:ext cx="952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Blockfrost APIs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84040"/>
            <a:ext cx="35242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084040"/>
            <a:ext cx="35242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6725" y="2084040"/>
            <a:ext cx="35242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 txBox="1"/>
          <p:nvPr/>
        </p:nvSpPr>
        <p:spPr>
          <a:xfrm>
            <a:off x="581025" y="581025"/>
            <a:ext cx="11581447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Technology Stack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895350" y="2398365"/>
            <a:ext cx="304038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B82F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Frontend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4648200" y="2398365"/>
            <a:ext cx="304038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8B5CF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Blockchain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8401050" y="2398365"/>
            <a:ext cx="304038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B981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Contracts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1352550" y="3068835"/>
            <a:ext cx="24384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React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1352550" y="3632596"/>
            <a:ext cx="24384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Next.js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1352550" y="4196357"/>
            <a:ext cx="24384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Tailwind CSS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5105400" y="3068835"/>
            <a:ext cx="24384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Cardano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5105400" y="3632596"/>
            <a:ext cx="24384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Mesh SDK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5105400" y="4196357"/>
            <a:ext cx="24384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CIP-30 &amp; CIP-8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5105400" y="4760118"/>
            <a:ext cx="24384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Blockfrost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8858250" y="3068835"/>
            <a:ext cx="24384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Aiken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8858250" y="3632596"/>
            <a:ext cx="24384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Plutus Core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8858250" y="4196357"/>
            <a:ext cx="243840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Node.js Backend</a:t>
            </a:r>
            <a:endParaRPr/>
          </a:p>
        </p:txBody>
      </p:sp>
      <p:pic>
        <p:nvPicPr>
          <p:cNvPr descr="image.png" id="300" name="Google Shape;30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5350" y="3102173"/>
            <a:ext cx="2286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5350" y="366117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5350" y="422493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48200" y="3102173"/>
            <a:ext cx="2286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48200" y="3661171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48200" y="422493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48200" y="478869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401050" y="309741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01050" y="3661171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401050" y="4229695"/>
            <a:ext cx="285750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2250" y="1631602"/>
            <a:ext cx="66675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2250" y="2584102"/>
            <a:ext cx="66675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2250" y="3536602"/>
            <a:ext cx="66675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62250" y="4489102"/>
            <a:ext cx="66675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62250" y="5441602"/>
            <a:ext cx="6667500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3"/>
          <p:cNvSpPr txBox="1"/>
          <p:nvPr/>
        </p:nvSpPr>
        <p:spPr>
          <a:xfrm>
            <a:off x="581025" y="581025"/>
            <a:ext cx="11581447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Smart Contract Workflow</a:t>
            </a:r>
            <a:endParaRPr/>
          </a:p>
        </p:txBody>
      </p:sp>
      <p:pic>
        <p:nvPicPr>
          <p:cNvPr descr="image.png" id="321" name="Google Shape;32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24562" y="231740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24562" y="326990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24562" y="422240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24562" y="5174902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3"/>
          <p:cNvSpPr txBox="1"/>
          <p:nvPr/>
        </p:nvSpPr>
        <p:spPr>
          <a:xfrm>
            <a:off x="2943225" y="1812577"/>
            <a:ext cx="63055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Market Creation &amp; Liquidity Locked</a:t>
            </a:r>
            <a:endParaRPr/>
          </a:p>
        </p:txBody>
      </p:sp>
      <p:sp>
        <p:nvSpPr>
          <p:cNvPr id="326" name="Google Shape;326;p23"/>
          <p:cNvSpPr txBox="1"/>
          <p:nvPr/>
        </p:nvSpPr>
        <p:spPr>
          <a:xfrm>
            <a:off x="2943225" y="2765077"/>
            <a:ext cx="63055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Users Purchase YES/NO Positions</a:t>
            </a:r>
            <a:endParaRPr/>
          </a:p>
        </p:txBody>
      </p:sp>
      <p:sp>
        <p:nvSpPr>
          <p:cNvPr id="327" name="Google Shape;327;p23"/>
          <p:cNvSpPr txBox="1"/>
          <p:nvPr/>
        </p:nvSpPr>
        <p:spPr>
          <a:xfrm>
            <a:off x="2943225" y="3717577"/>
            <a:ext cx="63055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Market Closed (Trading Halts)</a:t>
            </a:r>
            <a:endParaRPr/>
          </a:p>
        </p:txBody>
      </p:sp>
      <p:sp>
        <p:nvSpPr>
          <p:cNvPr id="328" name="Google Shape;328;p23"/>
          <p:cNvSpPr txBox="1"/>
          <p:nvPr/>
        </p:nvSpPr>
        <p:spPr>
          <a:xfrm>
            <a:off x="2943225" y="4670077"/>
            <a:ext cx="63055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Oracle Resolution &amp; Winner Verification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2981325" y="5660677"/>
            <a:ext cx="6229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Automatic ADA Distribution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4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Why Cardano?</a:t>
            </a:r>
            <a:endParaRPr/>
          </a:p>
        </p:txBody>
      </p:sp>
      <p:grpSp>
        <p:nvGrpSpPr>
          <p:cNvPr id="336" name="Google Shape;336;p24"/>
          <p:cNvGrpSpPr/>
          <p:nvPr/>
        </p:nvGrpSpPr>
        <p:grpSpPr>
          <a:xfrm>
            <a:off x="581025" y="1524000"/>
            <a:ext cx="3333900" cy="1381200"/>
            <a:chOff x="0" y="0"/>
            <a:chExt cx="3333900" cy="1381200"/>
          </a:xfrm>
        </p:grpSpPr>
        <p:sp>
          <p:nvSpPr>
            <p:cNvPr id="337" name="Google Shape;337;p24"/>
            <p:cNvSpPr/>
            <p:nvPr/>
          </p:nvSpPr>
          <p:spPr>
            <a:xfrm>
              <a:off x="0" y="0"/>
              <a:ext cx="3333900" cy="1381200"/>
            </a:xfrm>
            <a:prstGeom prst="roundRect">
              <a:avLst>
                <a:gd fmla="val 8275" name="adj"/>
              </a:avLst>
            </a:prstGeom>
            <a:solidFill>
              <a:srgbClr val="0F172A">
                <a:alpha val="6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4"/>
            <p:cNvSpPr txBox="1"/>
            <p:nvPr/>
          </p:nvSpPr>
          <p:spPr>
            <a:xfrm>
              <a:off x="0" y="0"/>
              <a:ext cx="33339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alt_route</a:t>
              </a:r>
              <a:r>
                <a:rPr b="0" lang="en-US" sz="14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Parallel Execution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Extended UTxO model ensures parallelism and high performance.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39" name="Google Shape;339;p24"/>
          <p:cNvGrpSpPr/>
          <p:nvPr/>
        </p:nvGrpSpPr>
        <p:grpSpPr>
          <a:xfrm>
            <a:off x="581025" y="3095625"/>
            <a:ext cx="3333900" cy="1381200"/>
            <a:chOff x="0" y="0"/>
            <a:chExt cx="3333900" cy="1381200"/>
          </a:xfrm>
        </p:grpSpPr>
        <p:sp>
          <p:nvSpPr>
            <p:cNvPr id="340" name="Google Shape;340;p24"/>
            <p:cNvSpPr/>
            <p:nvPr/>
          </p:nvSpPr>
          <p:spPr>
            <a:xfrm>
              <a:off x="0" y="0"/>
              <a:ext cx="3333900" cy="1381200"/>
            </a:xfrm>
            <a:prstGeom prst="roundRect">
              <a:avLst>
                <a:gd fmla="val 8275" name="adj"/>
              </a:avLst>
            </a:prstGeom>
            <a:solidFill>
              <a:srgbClr val="0F172A">
                <a:alpha val="6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4"/>
            <p:cNvSpPr txBox="1"/>
            <p:nvPr/>
          </p:nvSpPr>
          <p:spPr>
            <a:xfrm>
              <a:off x="0" y="0"/>
              <a:ext cx="33339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r>
                <a:rPr b="0" lang="en-US" sz="14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Predictable Fees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Enjoy low and highly predictable transaction fees on every transfer.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2" name="Google Shape;342;p24"/>
          <p:cNvGrpSpPr/>
          <p:nvPr/>
        </p:nvGrpSpPr>
        <p:grpSpPr>
          <a:xfrm>
            <a:off x="581025" y="4667250"/>
            <a:ext cx="3333900" cy="1381200"/>
            <a:chOff x="0" y="0"/>
            <a:chExt cx="3333900" cy="1381200"/>
          </a:xfrm>
        </p:grpSpPr>
        <p:sp>
          <p:nvSpPr>
            <p:cNvPr id="343" name="Google Shape;343;p24"/>
            <p:cNvSpPr/>
            <p:nvPr/>
          </p:nvSpPr>
          <p:spPr>
            <a:xfrm>
              <a:off x="0" y="0"/>
              <a:ext cx="3333900" cy="1381200"/>
            </a:xfrm>
            <a:prstGeom prst="roundRect">
              <a:avLst>
                <a:gd fmla="val 8275" name="adj"/>
              </a:avLst>
            </a:prstGeom>
            <a:solidFill>
              <a:srgbClr val="0F172A">
                <a:alpha val="6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4"/>
            <p:cNvSpPr txBox="1"/>
            <p:nvPr/>
          </p:nvSpPr>
          <p:spPr>
            <a:xfrm>
              <a:off x="0" y="0"/>
              <a:ext cx="33339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calculate</a:t>
              </a:r>
              <a:r>
                <a:rPr b="0" lang="en-US" sz="14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Deterministic Costs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Deterministic transactions completely prevent hidden execution costs.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5" name="Google Shape;345;p24"/>
          <p:cNvGrpSpPr/>
          <p:nvPr/>
        </p:nvGrpSpPr>
        <p:grpSpPr>
          <a:xfrm>
            <a:off x="4276725" y="1524000"/>
            <a:ext cx="3333900" cy="1381200"/>
            <a:chOff x="0" y="0"/>
            <a:chExt cx="3333900" cy="1381200"/>
          </a:xfrm>
        </p:grpSpPr>
        <p:sp>
          <p:nvSpPr>
            <p:cNvPr id="346" name="Google Shape;346;p24"/>
            <p:cNvSpPr/>
            <p:nvPr/>
          </p:nvSpPr>
          <p:spPr>
            <a:xfrm>
              <a:off x="0" y="0"/>
              <a:ext cx="3333900" cy="1381200"/>
            </a:xfrm>
            <a:prstGeom prst="roundRect">
              <a:avLst>
                <a:gd fmla="val 8275" name="adj"/>
              </a:avLst>
            </a:prstGeom>
            <a:solidFill>
              <a:srgbClr val="0F172A">
                <a:alpha val="6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4"/>
            <p:cNvSpPr txBox="1"/>
            <p:nvPr/>
          </p:nvSpPr>
          <p:spPr>
            <a:xfrm>
              <a:off x="0" y="0"/>
              <a:ext cx="33339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token</a:t>
              </a:r>
              <a:r>
                <a:rPr b="0" lang="en-US" sz="14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Native Assets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Mint custom tokens natively without writing complex smart contracts.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48" name="Google Shape;348;p24"/>
          <p:cNvGrpSpPr/>
          <p:nvPr/>
        </p:nvGrpSpPr>
        <p:grpSpPr>
          <a:xfrm>
            <a:off x="4276725" y="3095625"/>
            <a:ext cx="3333900" cy="1381200"/>
            <a:chOff x="0" y="0"/>
            <a:chExt cx="3333900" cy="1381200"/>
          </a:xfrm>
        </p:grpSpPr>
        <p:sp>
          <p:nvSpPr>
            <p:cNvPr id="349" name="Google Shape;349;p24"/>
            <p:cNvSpPr/>
            <p:nvPr/>
          </p:nvSpPr>
          <p:spPr>
            <a:xfrm>
              <a:off x="0" y="0"/>
              <a:ext cx="3333900" cy="1381200"/>
            </a:xfrm>
            <a:prstGeom prst="roundRect">
              <a:avLst>
                <a:gd fmla="val 8275" name="adj"/>
              </a:avLst>
            </a:prstGeom>
            <a:solidFill>
              <a:srgbClr val="0F172A">
                <a:alpha val="6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4"/>
            <p:cNvSpPr txBox="1"/>
            <p:nvPr/>
          </p:nvSpPr>
          <p:spPr>
            <a:xfrm>
              <a:off x="0" y="0"/>
              <a:ext cx="33339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r>
                <a:rPr b="0" lang="en-US" sz="14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High Scalability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Optimized core infrastructure built for high global throughput.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1" name="Google Shape;351;p24"/>
          <p:cNvGrpSpPr/>
          <p:nvPr/>
        </p:nvGrpSpPr>
        <p:grpSpPr>
          <a:xfrm>
            <a:off x="4276725" y="4667250"/>
            <a:ext cx="3333900" cy="1381200"/>
            <a:chOff x="0" y="0"/>
            <a:chExt cx="3333900" cy="1381200"/>
          </a:xfrm>
        </p:grpSpPr>
        <p:sp>
          <p:nvSpPr>
            <p:cNvPr id="352" name="Google Shape;352;p24"/>
            <p:cNvSpPr/>
            <p:nvPr/>
          </p:nvSpPr>
          <p:spPr>
            <a:xfrm>
              <a:off x="0" y="0"/>
              <a:ext cx="3333900" cy="1381200"/>
            </a:xfrm>
            <a:prstGeom prst="roundRect">
              <a:avLst>
                <a:gd fmla="val 8275" name="adj"/>
              </a:avLst>
            </a:prstGeom>
            <a:solidFill>
              <a:srgbClr val="0F172A">
                <a:alpha val="60000"/>
              </a:srgbClr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4"/>
            <p:cNvSpPr txBox="1"/>
            <p:nvPr/>
          </p:nvSpPr>
          <p:spPr>
            <a:xfrm>
              <a:off x="0" y="0"/>
              <a:ext cx="33339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r>
                <a:rPr b="0" lang="en-US" sz="14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Sustainable Governance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On-chain governance architecture ensures decentralized evolution.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54" name="Google Shape;354;p24"/>
          <p:cNvGrpSpPr/>
          <p:nvPr/>
        </p:nvGrpSpPr>
        <p:grpSpPr>
          <a:xfrm>
            <a:off x="7972425" y="1524000"/>
            <a:ext cx="3638700" cy="4524300"/>
            <a:chOff x="0" y="0"/>
            <a:chExt cx="3638700" cy="4524300"/>
          </a:xfrm>
        </p:grpSpPr>
        <p:sp>
          <p:nvSpPr>
            <p:cNvPr id="355" name="Google Shape;355;p24"/>
            <p:cNvSpPr/>
            <p:nvPr/>
          </p:nvSpPr>
          <p:spPr>
            <a:xfrm>
              <a:off x="0" y="0"/>
              <a:ext cx="3638700" cy="4524300"/>
            </a:xfrm>
            <a:prstGeom prst="roundRect">
              <a:avLst>
                <a:gd fmla="val 3141" name="adj"/>
              </a:avLst>
            </a:prstGeom>
            <a:solidFill>
              <a:srgbClr val="0F172A">
                <a:alpha val="69999"/>
              </a:srgbClr>
            </a:solidFill>
            <a:ln cap="flat" cmpd="sng" w="1905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4"/>
            <p:cNvSpPr txBox="1"/>
            <p:nvPr/>
          </p:nvSpPr>
          <p:spPr>
            <a:xfrm>
              <a:off x="0" y="0"/>
              <a:ext cx="3638700" cy="452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3375" lIns="333375" spcFirstLastPara="1" rIns="333375" wrap="square" tIns="333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Secure, Verified Smart Contracts</a:t>
              </a:r>
              <a:endParaRPr b="0" sz="20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Cardano utilizes formal verification techniques to mathematically prove the correctness of smart contracts, providing military-grade security and preventing exploits.</a:t>
              </a:r>
              <a:endParaRPr b="0" sz="1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1" name="Google Shape;3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726108"/>
            <a:ext cx="3524250" cy="2053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726108"/>
            <a:ext cx="3524250" cy="2053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6725" y="1726108"/>
            <a:ext cx="3524250" cy="2053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008090"/>
            <a:ext cx="3524250" cy="2053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3875" y="4008090"/>
            <a:ext cx="3524250" cy="2053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6725" y="4008090"/>
            <a:ext cx="3524250" cy="2053381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5"/>
          <p:cNvSpPr txBox="1"/>
          <p:nvPr/>
        </p:nvSpPr>
        <p:spPr>
          <a:xfrm>
            <a:off x="581025" y="581025"/>
            <a:ext cx="11581447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Security Model</a:t>
            </a:r>
            <a:endParaRPr/>
          </a:p>
        </p:txBody>
      </p:sp>
      <p:pic>
        <p:nvPicPr>
          <p:cNvPr descr="image.png" id="369" name="Google Shape;369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14550" y="204043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5"/>
          <p:cNvSpPr txBox="1"/>
          <p:nvPr/>
        </p:nvSpPr>
        <p:spPr>
          <a:xfrm>
            <a:off x="1458039" y="2650033"/>
            <a:ext cx="1770221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Wallet Ownership</a:t>
            </a:r>
            <a:endParaRPr/>
          </a:p>
        </p:txBody>
      </p:sp>
      <p:sp>
        <p:nvSpPr>
          <p:cNvPr id="371" name="Google Shape;371;p25"/>
          <p:cNvSpPr txBox="1"/>
          <p:nvPr/>
        </p:nvSpPr>
        <p:spPr>
          <a:xfrm>
            <a:off x="895350" y="2977604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Strict cryptographic wallet identity checks</a:t>
            </a:r>
            <a:endParaRPr/>
          </a:p>
        </p:txBody>
      </p:sp>
      <p:pic>
        <p:nvPicPr>
          <p:cNvPr descr="image.png" id="372" name="Google Shape;372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67400" y="204043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5"/>
          <p:cNvSpPr txBox="1"/>
          <p:nvPr/>
        </p:nvSpPr>
        <p:spPr>
          <a:xfrm>
            <a:off x="5205888" y="2650033"/>
            <a:ext cx="1780222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Digital Signatures</a:t>
            </a:r>
            <a:endParaRPr/>
          </a:p>
        </p:txBody>
      </p:sp>
      <p:sp>
        <p:nvSpPr>
          <p:cNvPr id="374" name="Google Shape;374;p25"/>
          <p:cNvSpPr txBox="1"/>
          <p:nvPr/>
        </p:nvSpPr>
        <p:spPr>
          <a:xfrm>
            <a:off x="4648200" y="2977604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All actions mandate verifiable signatures</a:t>
            </a:r>
            <a:endParaRPr/>
          </a:p>
        </p:txBody>
      </p:sp>
      <p:pic>
        <p:nvPicPr>
          <p:cNvPr descr="image.png" id="375" name="Google Shape;375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20250" y="204043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5"/>
          <p:cNvSpPr txBox="1"/>
          <p:nvPr/>
        </p:nvSpPr>
        <p:spPr>
          <a:xfrm>
            <a:off x="9003744" y="2650033"/>
            <a:ext cx="1690211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Immutable Chain</a:t>
            </a:r>
            <a:endParaRPr/>
          </a:p>
        </p:txBody>
      </p:sp>
      <p:sp>
        <p:nvSpPr>
          <p:cNvPr id="377" name="Google Shape;377;p25"/>
          <p:cNvSpPr txBox="1"/>
          <p:nvPr/>
        </p:nvSpPr>
        <p:spPr>
          <a:xfrm>
            <a:off x="8401050" y="2977604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Tamper-proof ledger ensures data integrity</a:t>
            </a:r>
            <a:endParaRPr/>
          </a:p>
        </p:txBody>
      </p:sp>
      <p:pic>
        <p:nvPicPr>
          <p:cNvPr descr="image.png" id="378" name="Google Shape;378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114550" y="432241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 txBox="1"/>
          <p:nvPr/>
        </p:nvSpPr>
        <p:spPr>
          <a:xfrm>
            <a:off x="1328023" y="4932015"/>
            <a:ext cx="2030253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Trustless Settlement</a:t>
            </a:r>
            <a:endParaRPr/>
          </a:p>
        </p:txBody>
      </p:sp>
      <p:sp>
        <p:nvSpPr>
          <p:cNvPr id="380" name="Google Shape;380;p25"/>
          <p:cNvSpPr txBox="1"/>
          <p:nvPr/>
        </p:nvSpPr>
        <p:spPr>
          <a:xfrm>
            <a:off x="895350" y="5259585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Automated payouts without human intervention</a:t>
            </a:r>
            <a:endParaRPr/>
          </a:p>
        </p:txBody>
      </p:sp>
      <p:pic>
        <p:nvPicPr>
          <p:cNvPr descr="image.png" id="381" name="Google Shape;381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867400" y="432241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5"/>
          <p:cNvSpPr txBox="1"/>
          <p:nvPr/>
        </p:nvSpPr>
        <p:spPr>
          <a:xfrm>
            <a:off x="5110876" y="4932015"/>
            <a:ext cx="1970246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Contract Validation</a:t>
            </a:r>
            <a:endParaRPr/>
          </a:p>
        </p:txBody>
      </p:sp>
      <p:sp>
        <p:nvSpPr>
          <p:cNvPr id="383" name="Google Shape;383;p25"/>
          <p:cNvSpPr txBox="1"/>
          <p:nvPr/>
        </p:nvSpPr>
        <p:spPr>
          <a:xfrm>
            <a:off x="4648200" y="5259585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Aiken scripts strictly control all UTxO logic</a:t>
            </a:r>
            <a:endParaRPr/>
          </a:p>
        </p:txBody>
      </p:sp>
      <p:pic>
        <p:nvPicPr>
          <p:cNvPr descr="image.png" id="384" name="Google Shape;384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620250" y="432241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5"/>
          <p:cNvSpPr txBox="1"/>
          <p:nvPr/>
        </p:nvSpPr>
        <p:spPr>
          <a:xfrm>
            <a:off x="9118758" y="4932015"/>
            <a:ext cx="1460182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Non-Custodial</a:t>
            </a:r>
            <a:endParaRPr/>
          </a:p>
        </p:txBody>
      </p:sp>
      <p:sp>
        <p:nvSpPr>
          <p:cNvPr id="386" name="Google Shape;386;p25"/>
          <p:cNvSpPr txBox="1"/>
          <p:nvPr/>
        </p:nvSpPr>
        <p:spPr>
          <a:xfrm>
            <a:off x="8401050" y="5259585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take absolutely no custody of user assets</a:t>
            </a:r>
            <a:endParaRPr/>
          </a:p>
        </p:txBody>
      </p:sp>
      <p:pic>
        <p:nvPicPr>
          <p:cNvPr descr="image.png" id="387" name="Google Shape;387;p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209800" y="2135683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2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929312" y="2135683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2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682162" y="2135683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2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176462" y="441766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2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962650" y="441766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2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696450" y="4417665"/>
            <a:ext cx="3048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7" name="Google Shape;39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26"/>
          <p:cNvSpPr txBox="1"/>
          <p:nvPr/>
        </p:nvSpPr>
        <p:spPr>
          <a:xfrm>
            <a:off x="762000" y="571500"/>
            <a:ext cx="106680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Roadmap</a:t>
            </a:r>
            <a:endParaRPr b="0" sz="3600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grpSp>
        <p:nvGrpSpPr>
          <p:cNvPr id="399" name="Google Shape;399;p26"/>
          <p:cNvGrpSpPr/>
          <p:nvPr/>
        </p:nvGrpSpPr>
        <p:grpSpPr>
          <a:xfrm>
            <a:off x="2171700" y="1600200"/>
            <a:ext cx="7848600" cy="228600"/>
            <a:chOff x="2171700" y="1600200"/>
            <a:chExt cx="7848600" cy="228600"/>
          </a:xfrm>
        </p:grpSpPr>
        <p:sp>
          <p:nvSpPr>
            <p:cNvPr id="400" name="Google Shape;400;p26"/>
            <p:cNvSpPr/>
            <p:nvPr/>
          </p:nvSpPr>
          <p:spPr>
            <a:xfrm>
              <a:off x="2171700" y="1600200"/>
              <a:ext cx="228600" cy="228600"/>
            </a:xfrm>
            <a:prstGeom prst="ellipse">
              <a:avLst/>
            </a:prstGeom>
            <a:solidFill>
              <a:srgbClr val="040814"/>
            </a:solidFill>
            <a:ln cap="flat" cmpd="sng" w="381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6"/>
            <p:cNvSpPr/>
            <p:nvPr/>
          </p:nvSpPr>
          <p:spPr>
            <a:xfrm>
              <a:off x="5981700" y="1600200"/>
              <a:ext cx="228600" cy="228600"/>
            </a:xfrm>
            <a:prstGeom prst="ellipse">
              <a:avLst/>
            </a:prstGeom>
            <a:solidFill>
              <a:srgbClr val="040814"/>
            </a:solidFill>
            <a:ln cap="flat" cmpd="sng" w="38100">
              <a:solidFill>
                <a:srgbClr val="8B5C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6"/>
            <p:cNvSpPr/>
            <p:nvPr/>
          </p:nvSpPr>
          <p:spPr>
            <a:xfrm>
              <a:off x="9791700" y="1600200"/>
              <a:ext cx="228600" cy="228600"/>
            </a:xfrm>
            <a:prstGeom prst="ellipse">
              <a:avLst/>
            </a:prstGeom>
            <a:solidFill>
              <a:srgbClr val="040814"/>
            </a:solidFill>
            <a:ln cap="flat" cmpd="sng" w="381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3" name="Google Shape;403;p26"/>
          <p:cNvGrpSpPr/>
          <p:nvPr/>
        </p:nvGrpSpPr>
        <p:grpSpPr>
          <a:xfrm>
            <a:off x="762000" y="2286000"/>
            <a:ext cx="3048000" cy="3619500"/>
            <a:chOff x="0" y="0"/>
            <a:chExt cx="3048000" cy="3619500"/>
          </a:xfrm>
        </p:grpSpPr>
        <p:sp>
          <p:nvSpPr>
            <p:cNvPr id="404" name="Google Shape;404;p26"/>
            <p:cNvSpPr/>
            <p:nvPr/>
          </p:nvSpPr>
          <p:spPr>
            <a:xfrm>
              <a:off x="0" y="0"/>
              <a:ext cx="3048000" cy="3619500"/>
            </a:xfrm>
            <a:prstGeom prst="roundRect">
              <a:avLst>
                <a:gd fmla="val 5000" name="adj"/>
              </a:avLst>
            </a:prstGeom>
            <a:solidFill>
              <a:srgbClr val="0D1527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6"/>
            <p:cNvSpPr/>
            <p:nvPr/>
          </p:nvSpPr>
          <p:spPr>
            <a:xfrm>
              <a:off x="0" y="0"/>
              <a:ext cx="3048000" cy="573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6"/>
            <p:cNvSpPr txBox="1"/>
            <p:nvPr/>
          </p:nvSpPr>
          <p:spPr>
            <a:xfrm>
              <a:off x="0" y="190500"/>
              <a:ext cx="3048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3B82F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Phase 1</a:t>
              </a:r>
              <a:endParaRPr b="0" sz="2200">
                <a:solidFill>
                  <a:srgbClr val="3B82F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MVP Launch</a:t>
              </a:r>
              <a:endParaRPr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Wallet Integration</a:t>
              </a:r>
              <a:endParaRPr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3B82F6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Market Creation</a:t>
              </a:r>
              <a:endParaRPr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07" name="Google Shape;407;p26"/>
          <p:cNvGrpSpPr/>
          <p:nvPr/>
        </p:nvGrpSpPr>
        <p:grpSpPr>
          <a:xfrm>
            <a:off x="4572000" y="2286000"/>
            <a:ext cx="3048000" cy="3619500"/>
            <a:chOff x="0" y="0"/>
            <a:chExt cx="3048000" cy="3619500"/>
          </a:xfrm>
        </p:grpSpPr>
        <p:sp>
          <p:nvSpPr>
            <p:cNvPr id="408" name="Google Shape;408;p26"/>
            <p:cNvSpPr/>
            <p:nvPr/>
          </p:nvSpPr>
          <p:spPr>
            <a:xfrm>
              <a:off x="0" y="0"/>
              <a:ext cx="3048000" cy="3619500"/>
            </a:xfrm>
            <a:prstGeom prst="roundRect">
              <a:avLst>
                <a:gd fmla="val 5000" name="adj"/>
              </a:avLst>
            </a:prstGeom>
            <a:solidFill>
              <a:srgbClr val="0D1527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0" y="0"/>
              <a:ext cx="3048000" cy="573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6"/>
            <p:cNvSpPr txBox="1"/>
            <p:nvPr/>
          </p:nvSpPr>
          <p:spPr>
            <a:xfrm>
              <a:off x="0" y="190500"/>
              <a:ext cx="3048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8B5CF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Phase 2</a:t>
              </a:r>
              <a:endParaRPr b="0" sz="2200">
                <a:solidFill>
                  <a:srgbClr val="8B5CF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8B5CF6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Oracle Integration</a:t>
              </a:r>
              <a:endParaRPr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8B5CF6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Analytics Dashboard</a:t>
              </a:r>
              <a:endParaRPr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8B5CF6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On-chain Governance</a:t>
              </a:r>
              <a:endParaRPr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11" name="Google Shape;411;p26"/>
          <p:cNvGrpSpPr/>
          <p:nvPr/>
        </p:nvGrpSpPr>
        <p:grpSpPr>
          <a:xfrm>
            <a:off x="8382000" y="2286000"/>
            <a:ext cx="3048000" cy="3619500"/>
            <a:chOff x="0" y="0"/>
            <a:chExt cx="3048000" cy="3619500"/>
          </a:xfrm>
        </p:grpSpPr>
        <p:sp>
          <p:nvSpPr>
            <p:cNvPr id="412" name="Google Shape;412;p26"/>
            <p:cNvSpPr/>
            <p:nvPr/>
          </p:nvSpPr>
          <p:spPr>
            <a:xfrm>
              <a:off x="0" y="0"/>
              <a:ext cx="3048000" cy="3619500"/>
            </a:xfrm>
            <a:prstGeom prst="roundRect">
              <a:avLst>
                <a:gd fmla="val 5000" name="adj"/>
              </a:avLst>
            </a:prstGeom>
            <a:solidFill>
              <a:srgbClr val="0D1527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6"/>
            <p:cNvSpPr/>
            <p:nvPr/>
          </p:nvSpPr>
          <p:spPr>
            <a:xfrm>
              <a:off x="0" y="0"/>
              <a:ext cx="3048000" cy="573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6"/>
            <p:cNvSpPr txBox="1"/>
            <p:nvPr/>
          </p:nvSpPr>
          <p:spPr>
            <a:xfrm>
              <a:off x="0" y="190500"/>
              <a:ext cx="3048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10B981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Phase 3</a:t>
              </a:r>
              <a:endParaRPr b="0" sz="2200">
                <a:solidFill>
                  <a:srgbClr val="10B981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Liquidity Pools</a:t>
              </a:r>
              <a:endParaRPr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Mobile App Release</a:t>
              </a:r>
              <a:endParaRPr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10B981"/>
                  </a:solidFill>
                  <a:latin typeface="Inter"/>
                  <a:ea typeface="Inter"/>
                  <a:cs typeface="Inter"/>
                  <a:sym typeface="Inter"/>
                </a:rPr>
                <a:t>•</a:t>
              </a:r>
              <a:r>
                <a:rPr lang="en-US" sz="14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Cross-chain Expansion</a:t>
              </a:r>
              <a:endParaRPr sz="14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9" name="Google Shape;41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7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Societal Impact</a:t>
            </a:r>
            <a:endParaRPr/>
          </a:p>
        </p:txBody>
      </p:sp>
      <p:grpSp>
        <p:nvGrpSpPr>
          <p:cNvPr id="421" name="Google Shape;421;p27"/>
          <p:cNvGrpSpPr/>
          <p:nvPr/>
        </p:nvGrpSpPr>
        <p:grpSpPr>
          <a:xfrm>
            <a:off x="762000" y="1714500"/>
            <a:ext cx="2476500" cy="2000100"/>
            <a:chOff x="0" y="0"/>
            <a:chExt cx="2476500" cy="2000100"/>
          </a:xfrm>
        </p:grpSpPr>
        <p:sp>
          <p:nvSpPr>
            <p:cNvPr id="422" name="Google Shape;422;p27"/>
            <p:cNvSpPr/>
            <p:nvPr/>
          </p:nvSpPr>
          <p:spPr>
            <a:xfrm>
              <a:off x="0" y="0"/>
              <a:ext cx="2476500" cy="2000100"/>
            </a:xfrm>
            <a:prstGeom prst="roundRect">
              <a:avLst>
                <a:gd fmla="val 7619" name="adj"/>
              </a:avLst>
            </a:prstGeom>
            <a:solidFill>
              <a:srgbClr val="0D1527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7"/>
            <p:cNvSpPr/>
            <p:nvPr/>
          </p:nvSpPr>
          <p:spPr>
            <a:xfrm>
              <a:off x="0" y="28575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7"/>
            <p:cNvSpPr txBox="1"/>
            <p:nvPr/>
          </p:nvSpPr>
          <p:spPr>
            <a:xfrm>
              <a:off x="228600" y="228600"/>
              <a:ext cx="2019300" cy="15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Transparent Markets</a:t>
              </a:r>
              <a:endParaRPr b="0" sz="15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Open, verifiable data feeds ensuring absolute market clarity.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5" name="Google Shape;425;p27"/>
          <p:cNvGrpSpPr/>
          <p:nvPr/>
        </p:nvGrpSpPr>
        <p:grpSpPr>
          <a:xfrm>
            <a:off x="3429000" y="1714500"/>
            <a:ext cx="2476500" cy="2000100"/>
            <a:chOff x="0" y="0"/>
            <a:chExt cx="2476500" cy="2000100"/>
          </a:xfrm>
        </p:grpSpPr>
        <p:sp>
          <p:nvSpPr>
            <p:cNvPr id="426" name="Google Shape;426;p27"/>
            <p:cNvSpPr/>
            <p:nvPr/>
          </p:nvSpPr>
          <p:spPr>
            <a:xfrm>
              <a:off x="0" y="0"/>
              <a:ext cx="2476500" cy="2000100"/>
            </a:xfrm>
            <a:prstGeom prst="roundRect">
              <a:avLst>
                <a:gd fmla="val 7619" name="adj"/>
              </a:avLst>
            </a:prstGeom>
            <a:solidFill>
              <a:srgbClr val="0D1527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7"/>
            <p:cNvSpPr/>
            <p:nvPr/>
          </p:nvSpPr>
          <p:spPr>
            <a:xfrm>
              <a:off x="0" y="28575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7"/>
            <p:cNvSpPr txBox="1"/>
            <p:nvPr/>
          </p:nvSpPr>
          <p:spPr>
            <a:xfrm>
              <a:off x="228600" y="228600"/>
              <a:ext cx="2019300" cy="15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Community Ownership</a:t>
              </a:r>
              <a:endParaRPr b="0" sz="15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Decisions and platform governance driven entirely by users.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9" name="Google Shape;429;p27"/>
          <p:cNvGrpSpPr/>
          <p:nvPr/>
        </p:nvGrpSpPr>
        <p:grpSpPr>
          <a:xfrm>
            <a:off x="6096000" y="1714500"/>
            <a:ext cx="2476500" cy="2000100"/>
            <a:chOff x="0" y="0"/>
            <a:chExt cx="2476500" cy="2000100"/>
          </a:xfrm>
        </p:grpSpPr>
        <p:sp>
          <p:nvSpPr>
            <p:cNvPr id="430" name="Google Shape;430;p27"/>
            <p:cNvSpPr/>
            <p:nvPr/>
          </p:nvSpPr>
          <p:spPr>
            <a:xfrm>
              <a:off x="0" y="0"/>
              <a:ext cx="2476500" cy="2000100"/>
            </a:xfrm>
            <a:prstGeom prst="roundRect">
              <a:avLst>
                <a:gd fmla="val 7619" name="adj"/>
              </a:avLst>
            </a:prstGeom>
            <a:solidFill>
              <a:srgbClr val="0D1527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7"/>
            <p:cNvSpPr/>
            <p:nvPr/>
          </p:nvSpPr>
          <p:spPr>
            <a:xfrm>
              <a:off x="0" y="28575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7"/>
            <p:cNvSpPr txBox="1"/>
            <p:nvPr/>
          </p:nvSpPr>
          <p:spPr>
            <a:xfrm>
              <a:off x="228600" y="228600"/>
              <a:ext cx="2019300" cy="15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public</a:t>
              </a:r>
              <a:endParaRPr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Financial Inclusion</a:t>
              </a:r>
              <a:endParaRPr b="0" sz="15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Global access to prediction markets without geographical barriers.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3" name="Google Shape;433;p27"/>
          <p:cNvGrpSpPr/>
          <p:nvPr/>
        </p:nvGrpSpPr>
        <p:grpSpPr>
          <a:xfrm>
            <a:off x="8763000" y="1714500"/>
            <a:ext cx="2476500" cy="2000100"/>
            <a:chOff x="0" y="0"/>
            <a:chExt cx="2476500" cy="2000100"/>
          </a:xfrm>
        </p:grpSpPr>
        <p:sp>
          <p:nvSpPr>
            <p:cNvPr id="434" name="Google Shape;434;p27"/>
            <p:cNvSpPr/>
            <p:nvPr/>
          </p:nvSpPr>
          <p:spPr>
            <a:xfrm>
              <a:off x="0" y="0"/>
              <a:ext cx="2476500" cy="2000100"/>
            </a:xfrm>
            <a:prstGeom prst="roundRect">
              <a:avLst>
                <a:gd fmla="val 7619" name="adj"/>
              </a:avLst>
            </a:prstGeom>
            <a:solidFill>
              <a:srgbClr val="0D1527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7"/>
            <p:cNvSpPr/>
            <p:nvPr/>
          </p:nvSpPr>
          <p:spPr>
            <a:xfrm>
              <a:off x="0" y="28575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7"/>
            <p:cNvSpPr txBox="1"/>
            <p:nvPr/>
          </p:nvSpPr>
          <p:spPr>
            <a:xfrm>
              <a:off x="228600" y="228600"/>
              <a:ext cx="2019300" cy="15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handshake</a:t>
              </a:r>
              <a:endParaRPr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Trustless Transactions</a:t>
              </a:r>
              <a:endParaRPr b="0" sz="15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Smart contracts eliminating counterparty risks and intermediaries.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37" name="Google Shape;437;p27"/>
          <p:cNvGrpSpPr/>
          <p:nvPr/>
        </p:nvGrpSpPr>
        <p:grpSpPr>
          <a:xfrm>
            <a:off x="762000" y="4000500"/>
            <a:ext cx="2476500" cy="2000100"/>
            <a:chOff x="0" y="0"/>
            <a:chExt cx="2476500" cy="2000100"/>
          </a:xfrm>
        </p:grpSpPr>
        <p:sp>
          <p:nvSpPr>
            <p:cNvPr id="438" name="Google Shape;438;p27"/>
            <p:cNvSpPr/>
            <p:nvPr/>
          </p:nvSpPr>
          <p:spPr>
            <a:xfrm>
              <a:off x="0" y="0"/>
              <a:ext cx="2476500" cy="2000100"/>
            </a:xfrm>
            <a:prstGeom prst="roundRect">
              <a:avLst>
                <a:gd fmla="val 7619" name="adj"/>
              </a:avLst>
            </a:prstGeom>
            <a:solidFill>
              <a:srgbClr val="0D1527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7"/>
            <p:cNvSpPr/>
            <p:nvPr/>
          </p:nvSpPr>
          <p:spPr>
            <a:xfrm>
              <a:off x="0" y="28575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7"/>
            <p:cNvSpPr txBox="1"/>
            <p:nvPr/>
          </p:nvSpPr>
          <p:spPr>
            <a:xfrm>
              <a:off x="228600" y="228600"/>
              <a:ext cx="2019300" cy="15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Cardano Adoption</a:t>
              </a:r>
              <a:endParaRPr b="0" sz="15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Boosting utility, transactions, and user engagement on Cardano.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1" name="Google Shape;441;p27"/>
          <p:cNvGrpSpPr/>
          <p:nvPr/>
        </p:nvGrpSpPr>
        <p:grpSpPr>
          <a:xfrm>
            <a:off x="3429000" y="4000500"/>
            <a:ext cx="2476500" cy="2000100"/>
            <a:chOff x="0" y="0"/>
            <a:chExt cx="2476500" cy="2000100"/>
          </a:xfrm>
        </p:grpSpPr>
        <p:sp>
          <p:nvSpPr>
            <p:cNvPr id="442" name="Google Shape;442;p27"/>
            <p:cNvSpPr/>
            <p:nvPr/>
          </p:nvSpPr>
          <p:spPr>
            <a:xfrm>
              <a:off x="0" y="0"/>
              <a:ext cx="2476500" cy="2000100"/>
            </a:xfrm>
            <a:prstGeom prst="roundRect">
              <a:avLst>
                <a:gd fmla="val 7619" name="adj"/>
              </a:avLst>
            </a:prstGeom>
            <a:solidFill>
              <a:srgbClr val="0D1527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7"/>
            <p:cNvSpPr/>
            <p:nvPr/>
          </p:nvSpPr>
          <p:spPr>
            <a:xfrm>
              <a:off x="0" y="28575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7"/>
            <p:cNvSpPr txBox="1"/>
            <p:nvPr/>
          </p:nvSpPr>
          <p:spPr>
            <a:xfrm>
              <a:off x="228600" y="228600"/>
              <a:ext cx="2019300" cy="15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endParaRPr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Decentralized Governance</a:t>
              </a:r>
              <a:endParaRPr b="0" sz="15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Fair voting protocols for platform upgrades and dispute resolutions.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5" name="Google Shape;445;p27"/>
          <p:cNvGrpSpPr/>
          <p:nvPr/>
        </p:nvGrpSpPr>
        <p:grpSpPr>
          <a:xfrm>
            <a:off x="6096000" y="4000500"/>
            <a:ext cx="2476500" cy="2000100"/>
            <a:chOff x="0" y="0"/>
            <a:chExt cx="2476500" cy="2000100"/>
          </a:xfrm>
        </p:grpSpPr>
        <p:sp>
          <p:nvSpPr>
            <p:cNvPr id="446" name="Google Shape;446;p27"/>
            <p:cNvSpPr/>
            <p:nvPr/>
          </p:nvSpPr>
          <p:spPr>
            <a:xfrm>
              <a:off x="0" y="0"/>
              <a:ext cx="2476500" cy="2000100"/>
            </a:xfrm>
            <a:prstGeom prst="roundRect">
              <a:avLst>
                <a:gd fmla="val 7619" name="adj"/>
              </a:avLst>
            </a:prstGeom>
            <a:solidFill>
              <a:srgbClr val="0D1527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7"/>
            <p:cNvSpPr/>
            <p:nvPr/>
          </p:nvSpPr>
          <p:spPr>
            <a:xfrm>
              <a:off x="0" y="28575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7"/>
            <p:cNvSpPr txBox="1"/>
            <p:nvPr/>
          </p:nvSpPr>
          <p:spPr>
            <a:xfrm>
              <a:off x="228600" y="228600"/>
              <a:ext cx="2019300" cy="15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endParaRPr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10B981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Fair Reward Distribution</a:t>
              </a:r>
              <a:endParaRPr b="0" sz="1500">
                <a:solidFill>
                  <a:srgbClr val="10B981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Automated, direct payouts to accurate forecasters instantly.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49" name="Google Shape;449;p27"/>
          <p:cNvGrpSpPr/>
          <p:nvPr/>
        </p:nvGrpSpPr>
        <p:grpSpPr>
          <a:xfrm>
            <a:off x="8763000" y="4000500"/>
            <a:ext cx="2476500" cy="2000100"/>
            <a:chOff x="0" y="0"/>
            <a:chExt cx="2476500" cy="2000100"/>
          </a:xfrm>
        </p:grpSpPr>
        <p:sp>
          <p:nvSpPr>
            <p:cNvPr id="450" name="Google Shape;450;p27"/>
            <p:cNvSpPr/>
            <p:nvPr/>
          </p:nvSpPr>
          <p:spPr>
            <a:xfrm>
              <a:off x="0" y="0"/>
              <a:ext cx="2476500" cy="2000100"/>
            </a:xfrm>
            <a:prstGeom prst="roundRect">
              <a:avLst>
                <a:gd fmla="val 7619" name="adj"/>
              </a:avLst>
            </a:prstGeom>
            <a:solidFill>
              <a:srgbClr val="0D1527"/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0" y="285750"/>
              <a:ext cx="38100" cy="3810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7"/>
            <p:cNvSpPr txBox="1"/>
            <p:nvPr/>
          </p:nvSpPr>
          <p:spPr>
            <a:xfrm>
              <a:off x="228600" y="228600"/>
              <a:ext cx="2019300" cy="15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auto_awesome</a:t>
              </a:r>
              <a:endParaRPr>
                <a:latin typeface="Outfit"/>
                <a:ea typeface="Outfit"/>
                <a:cs typeface="Outfit"/>
                <a:sym typeface="Outfi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The PRO</a:t>
              </a:r>
              <a:r>
                <a:rPr lang="en-US" sz="15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BX</a:t>
              </a:r>
              <a:r>
                <a:rPr b="0" lang="en-US" sz="15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 Vision</a:t>
              </a:r>
              <a:endParaRPr b="0" sz="15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Fostering a globally open, decentralized forecasting infrastructure.</a:t>
              </a:r>
              <a:endParaRPr b="0"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0814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7" name="Google Shape;45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28"/>
          <p:cNvSpPr txBox="1"/>
          <p:nvPr/>
        </p:nvSpPr>
        <p:spPr>
          <a:xfrm>
            <a:off x="762000" y="1714500"/>
            <a:ext cx="4000500" cy="36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Future Vision</a:t>
            </a:r>
            <a:endParaRPr b="0" sz="5600">
              <a:solidFill>
                <a:srgbClr val="F8FAFC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A decentralized platform empowering anyone, anywhere, to forecast real-world outcomes with absolute integrity.</a:t>
            </a:r>
            <a:endParaRPr b="0" sz="1600">
              <a:solidFill>
                <a:srgbClr val="94A3B8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459" name="Google Shape;459;p28"/>
          <p:cNvGrpSpPr/>
          <p:nvPr/>
        </p:nvGrpSpPr>
        <p:grpSpPr>
          <a:xfrm>
            <a:off x="5524500" y="1333500"/>
            <a:ext cx="5905500" cy="1143000"/>
            <a:chOff x="0" y="0"/>
            <a:chExt cx="5905500" cy="1143000"/>
          </a:xfrm>
        </p:grpSpPr>
        <p:sp>
          <p:nvSpPr>
            <p:cNvPr id="460" name="Google Shape;460;p28"/>
            <p:cNvSpPr/>
            <p:nvPr/>
          </p:nvSpPr>
          <p:spPr>
            <a:xfrm>
              <a:off x="0" y="0"/>
              <a:ext cx="571500" cy="571500"/>
            </a:xfrm>
            <a:prstGeom prst="roundRect">
              <a:avLst>
                <a:gd fmla="val 20000" name="adj"/>
              </a:avLst>
            </a:prstGeom>
            <a:solidFill>
              <a:srgbClr val="0D1527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8"/>
            <p:cNvSpPr txBox="1"/>
            <p:nvPr/>
          </p:nvSpPr>
          <p:spPr>
            <a:xfrm>
              <a:off x="0" y="35052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62" name="Google Shape;462;p28"/>
            <p:cNvSpPr txBox="1"/>
            <p:nvPr/>
          </p:nvSpPr>
          <p:spPr>
            <a:xfrm>
              <a:off x="762000" y="0"/>
              <a:ext cx="5143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Cardano-Powered Core</a:t>
              </a:r>
              <a:endParaRPr b="0" sz="18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Built as the premier decentralized prediction market on Cardano, leveraging secure, scalable on-chain settlement.</a:t>
              </a:r>
              <a:endParaRPr b="0" sz="130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463" name="Google Shape;463;p28"/>
          <p:cNvGrpSpPr/>
          <p:nvPr/>
        </p:nvGrpSpPr>
        <p:grpSpPr>
          <a:xfrm>
            <a:off x="5524500" y="2762250"/>
            <a:ext cx="5905500" cy="1143000"/>
            <a:chOff x="0" y="0"/>
            <a:chExt cx="5905500" cy="1143000"/>
          </a:xfrm>
        </p:grpSpPr>
        <p:sp>
          <p:nvSpPr>
            <p:cNvPr id="464" name="Google Shape;464;p28"/>
            <p:cNvSpPr/>
            <p:nvPr/>
          </p:nvSpPr>
          <p:spPr>
            <a:xfrm>
              <a:off x="0" y="0"/>
              <a:ext cx="571500" cy="571500"/>
            </a:xfrm>
            <a:prstGeom prst="roundRect">
              <a:avLst>
                <a:gd fmla="val 20000" name="adj"/>
              </a:avLst>
            </a:prstGeom>
            <a:solidFill>
              <a:srgbClr val="0D1527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8"/>
            <p:cNvSpPr txBox="1"/>
            <p:nvPr/>
          </p:nvSpPr>
          <p:spPr>
            <a:xfrm>
              <a:off x="0" y="35052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8B5C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public</a:t>
              </a:r>
              <a:endParaRPr sz="2400">
                <a:solidFill>
                  <a:srgbClr val="8B5C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66" name="Google Shape;466;p28"/>
            <p:cNvSpPr txBox="1"/>
            <p:nvPr/>
          </p:nvSpPr>
          <p:spPr>
            <a:xfrm>
              <a:off x="762000" y="0"/>
              <a:ext cx="5143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Global &amp; Transparent</a:t>
              </a:r>
              <a:endParaRPr b="0" sz="18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Enabling open forecasting across geographical boundaries, ensuring absolute clarity through transparent event data.</a:t>
              </a:r>
              <a:endParaRPr b="0" sz="130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  <p:grpSp>
        <p:nvGrpSpPr>
          <p:cNvPr id="467" name="Google Shape;467;p28"/>
          <p:cNvGrpSpPr/>
          <p:nvPr/>
        </p:nvGrpSpPr>
        <p:grpSpPr>
          <a:xfrm>
            <a:off x="5524500" y="4191000"/>
            <a:ext cx="5905500" cy="1143000"/>
            <a:chOff x="0" y="0"/>
            <a:chExt cx="5905500" cy="1143000"/>
          </a:xfrm>
        </p:grpSpPr>
        <p:sp>
          <p:nvSpPr>
            <p:cNvPr id="468" name="Google Shape;468;p28"/>
            <p:cNvSpPr/>
            <p:nvPr/>
          </p:nvSpPr>
          <p:spPr>
            <a:xfrm>
              <a:off x="0" y="0"/>
              <a:ext cx="571500" cy="571500"/>
            </a:xfrm>
            <a:prstGeom prst="roundRect">
              <a:avLst>
                <a:gd fmla="val 20000" name="adj"/>
              </a:avLst>
            </a:prstGeom>
            <a:solidFill>
              <a:srgbClr val="0D1527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8"/>
            <p:cNvSpPr txBox="1"/>
            <p:nvPr/>
          </p:nvSpPr>
          <p:spPr>
            <a:xfrm>
              <a:off x="0" y="35052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handshake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70" name="Google Shape;470;p28"/>
            <p:cNvSpPr txBox="1"/>
            <p:nvPr/>
          </p:nvSpPr>
          <p:spPr>
            <a:xfrm>
              <a:off x="762000" y="0"/>
              <a:ext cx="5143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Trustless Disintermediation</a:t>
              </a:r>
              <a:endParaRPr b="0" sz="18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94A3B8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Eliminating third-party counterparty risks completely, executing prediction pools securely through automated code.</a:t>
              </a:r>
              <a:endParaRPr b="0" sz="1300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6" name="Google Shape;476;p29"/>
          <p:cNvGrpSpPr/>
          <p:nvPr/>
        </p:nvGrpSpPr>
        <p:grpSpPr>
          <a:xfrm>
            <a:off x="762000" y="571500"/>
            <a:ext cx="10668000" cy="571500"/>
            <a:chOff x="0" y="0"/>
            <a:chExt cx="10668000" cy="571500"/>
          </a:xfrm>
        </p:grpSpPr>
        <p:sp>
          <p:nvSpPr>
            <p:cNvPr id="477" name="Google Shape;477;p29"/>
            <p:cNvSpPr/>
            <p:nvPr/>
          </p:nvSpPr>
          <p:spPr>
            <a:xfrm>
              <a:off x="0" y="0"/>
              <a:ext cx="10668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9"/>
            <p:cNvSpPr txBox="1"/>
            <p:nvPr/>
          </p:nvSpPr>
          <p:spPr>
            <a:xfrm>
              <a:off x="0" y="0"/>
              <a:ext cx="1066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Market Mechanisms</a:t>
              </a:r>
              <a:endParaRPr b="0" sz="36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grpSp>
        <p:nvGrpSpPr>
          <p:cNvPr id="479" name="Google Shape;479;p29"/>
          <p:cNvGrpSpPr/>
          <p:nvPr/>
        </p:nvGrpSpPr>
        <p:grpSpPr>
          <a:xfrm>
            <a:off x="762000" y="1524000"/>
            <a:ext cx="5048400" cy="4572000"/>
            <a:chOff x="0" y="0"/>
            <a:chExt cx="5048400" cy="4572000"/>
          </a:xfrm>
        </p:grpSpPr>
        <p:sp>
          <p:nvSpPr>
            <p:cNvPr id="480" name="Google Shape;480;p29"/>
            <p:cNvSpPr/>
            <p:nvPr/>
          </p:nvSpPr>
          <p:spPr>
            <a:xfrm>
              <a:off x="0" y="0"/>
              <a:ext cx="5048400" cy="4572000"/>
            </a:xfrm>
            <a:prstGeom prst="roundRect">
              <a:avLst>
                <a:gd fmla="val 3333" name="adj"/>
              </a:avLst>
            </a:prstGeom>
            <a:solidFill>
              <a:srgbClr val="0D1527"/>
            </a:solidFill>
            <a:ln cap="flat" cmpd="sng" w="14300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9"/>
            <p:cNvSpPr/>
            <p:nvPr/>
          </p:nvSpPr>
          <p:spPr>
            <a:xfrm>
              <a:off x="0" y="285750"/>
              <a:ext cx="57300" cy="4764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9"/>
            <p:cNvSpPr txBox="1"/>
            <p:nvPr/>
          </p:nvSpPr>
          <p:spPr>
            <a:xfrm>
              <a:off x="285750" y="228600"/>
              <a:ext cx="44769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5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Order Book</a:t>
              </a:r>
              <a:endParaRPr b="0" sz="185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3B82F6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Polymarket / Kalshi</a:t>
              </a:r>
              <a:endParaRPr b="0" sz="1203">
                <a:solidFill>
                  <a:srgbClr val="3B82F6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lang="en-US" sz="185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subtitles_off</a:t>
              </a:r>
              <a:endParaRPr sz="129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95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Counterparty Required</a:t>
              </a:r>
              <a:endParaRPr b="0" sz="1295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Requires a matching counterparty for every single trade to execute.</a:t>
              </a:r>
              <a:endParaRPr sz="10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5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trending_down</a:t>
              </a:r>
              <a:endParaRPr sz="129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95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Liquidity Dependent</a:t>
              </a:r>
              <a:endParaRPr b="0" sz="1295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Low liquidity directly results in unfilled orders or extremely wide spreads.</a:t>
              </a:r>
              <a:endParaRPr sz="10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5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129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95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Hybrid Infrastructure</a:t>
              </a:r>
              <a:endParaRPr b="0" sz="1295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Relies on complex matching engines and off-chain infrastructure systems.</a:t>
              </a:r>
              <a:endParaRPr sz="10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5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endParaRPr sz="129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95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Peer-to-Peer Pricing</a:t>
              </a:r>
              <a:endParaRPr b="0" sz="1295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Prices depend entirely on actively competing bids and asks in the market.</a:t>
              </a:r>
              <a:endParaRPr sz="10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3" name="Google Shape;483;p29"/>
          <p:cNvGrpSpPr/>
          <p:nvPr/>
        </p:nvGrpSpPr>
        <p:grpSpPr>
          <a:xfrm>
            <a:off x="6381750" y="1524000"/>
            <a:ext cx="5048400" cy="4572000"/>
            <a:chOff x="0" y="0"/>
            <a:chExt cx="5048400" cy="4572000"/>
          </a:xfrm>
        </p:grpSpPr>
        <p:sp>
          <p:nvSpPr>
            <p:cNvPr id="484" name="Google Shape;484;p29"/>
            <p:cNvSpPr/>
            <p:nvPr/>
          </p:nvSpPr>
          <p:spPr>
            <a:xfrm>
              <a:off x="0" y="0"/>
              <a:ext cx="5048400" cy="4572000"/>
            </a:xfrm>
            <a:prstGeom prst="roundRect">
              <a:avLst>
                <a:gd fmla="val 3333" name="adj"/>
              </a:avLst>
            </a:prstGeom>
            <a:solidFill>
              <a:srgbClr val="0D1527"/>
            </a:solidFill>
            <a:ln cap="flat" cmpd="sng" w="143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0" y="285750"/>
              <a:ext cx="57300" cy="4764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9"/>
            <p:cNvSpPr txBox="1"/>
            <p:nvPr/>
          </p:nvSpPr>
          <p:spPr>
            <a:xfrm>
              <a:off x="285750" y="228600"/>
              <a:ext cx="44769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50">
                  <a:solidFill>
                    <a:srgbClr val="F8FAFC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Curve-Based AMM</a:t>
              </a:r>
              <a:endParaRPr b="0" sz="185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3">
                  <a:solidFill>
                    <a:srgbClr val="10B981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ProbX (On-Chain Native)</a:t>
              </a:r>
              <a:endParaRPr b="0" sz="1203">
                <a:solidFill>
                  <a:srgbClr val="10B981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lang="en-US" sz="185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timeline</a:t>
              </a:r>
              <a:endParaRPr sz="129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95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Direct Curve Trading</a:t>
              </a:r>
              <a:endParaRPr b="0" sz="1295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Trade directly against an automated, mathematical pricing curve.</a:t>
              </a:r>
              <a:endParaRPr sz="10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5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bolt</a:t>
              </a:r>
              <a:endParaRPr sz="129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95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Guaranteed Liquidity</a:t>
              </a:r>
              <a:endParaRPr b="0" sz="1295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Constant availability and instant liquidity, even for newly created markets.</a:t>
              </a:r>
              <a:endParaRPr sz="10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5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sz="129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95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Purely On-Chain</a:t>
              </a:r>
              <a:endParaRPr b="0" sz="1295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Operates on simple, highly secure, fully on-chain smart contract logic.</a:t>
              </a:r>
              <a:endParaRPr sz="10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5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functions</a:t>
              </a:r>
              <a:endParaRPr sz="129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95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Deterministic Pricing</a:t>
              </a:r>
              <a:endParaRPr b="0" sz="1295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18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Prices are computed programmatically and predictably directly from the curve.</a:t>
              </a:r>
              <a:endParaRPr sz="1018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1" name="Google Shape;49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0"/>
          <p:cNvSpPr txBox="1"/>
          <p:nvPr/>
        </p:nvSpPr>
        <p:spPr>
          <a:xfrm>
            <a:off x="3525678" y="1887884"/>
            <a:ext cx="5140642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Thank You</a:t>
            </a:r>
            <a:endParaRPr/>
          </a:p>
        </p:txBody>
      </p:sp>
      <p:sp>
        <p:nvSpPr>
          <p:cNvPr id="493" name="Google Shape;493;p30"/>
          <p:cNvSpPr txBox="1"/>
          <p:nvPr/>
        </p:nvSpPr>
        <p:spPr>
          <a:xfrm>
            <a:off x="4895850" y="3469034"/>
            <a:ext cx="2400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Prob</a:t>
            </a:r>
            <a:r>
              <a:rPr lang="en-US" sz="4200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X</a:t>
            </a:r>
            <a:endParaRPr/>
          </a:p>
        </p:txBody>
      </p:sp>
      <p:sp>
        <p:nvSpPr>
          <p:cNvPr id="494" name="Google Shape;494;p30"/>
          <p:cNvSpPr/>
          <p:nvPr/>
        </p:nvSpPr>
        <p:spPr>
          <a:xfrm>
            <a:off x="5619750" y="4337595"/>
            <a:ext cx="9525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0"/>
          <p:cNvSpPr txBox="1"/>
          <p:nvPr/>
        </p:nvSpPr>
        <p:spPr>
          <a:xfrm>
            <a:off x="3762375" y="4604295"/>
            <a:ext cx="46672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PREDICT • VERIFY • REWARD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